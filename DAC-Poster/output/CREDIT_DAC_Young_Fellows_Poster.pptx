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  <p:sldMasterId id="2147483685" r:id="rId3"/>
  </p:sldMasterIdLst>
  <p:notesMasterIdLst>
    <p:notesMasterId r:id="rId5"/>
  </p:notesMasterIdLst>
  <p:sldIdLst>
    <p:sldId id="256" r:id="rId4"/>
  </p:sldIdLst>
  <p:sldSz cx="32918400" cy="438912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1pPr>
    <a:lvl2pPr marL="47375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2pPr>
    <a:lvl3pPr marL="94750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3pPr>
    <a:lvl4pPr marL="1421252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4pPr>
    <a:lvl5pPr marL="1895003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5pPr>
    <a:lvl6pPr marL="2368753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6pPr>
    <a:lvl7pPr marL="284250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7pPr>
    <a:lvl8pPr marL="331625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8pPr>
    <a:lvl9pPr marL="3790005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592" userDrawn="1">
          <p15:clr>
            <a:srgbClr val="A4A3A4"/>
          </p15:clr>
        </p15:guide>
        <p15:guide id="2" orient="horz" pos="24946" userDrawn="1">
          <p15:clr>
            <a:srgbClr val="A4A3A4"/>
          </p15:clr>
        </p15:guide>
        <p15:guide id="3" pos="-1042" userDrawn="1">
          <p15:clr>
            <a:srgbClr val="A4A3A4"/>
          </p15:clr>
        </p15:guide>
        <p15:guide id="4" pos="6297" userDrawn="1">
          <p15:clr>
            <a:srgbClr val="A4A3A4"/>
          </p15:clr>
        </p15:guide>
        <p15:guide id="5" pos="6680" userDrawn="1">
          <p15:clr>
            <a:srgbClr val="A4A3A4"/>
          </p15:clr>
        </p15:guide>
        <p15:guide id="6" pos="21739" userDrawn="1">
          <p15:clr>
            <a:srgbClr val="A4A3A4"/>
          </p15:clr>
        </p15:guide>
        <p15:guide id="7" pos="14017" userDrawn="1">
          <p15:clr>
            <a:srgbClr val="A4A3A4"/>
          </p15:clr>
        </p15:guide>
        <p15:guide id="8" pos="14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949BA1"/>
    <a:srgbClr val="D0D0D0"/>
    <a:srgbClr val="00C200"/>
    <a:srgbClr val="84CCE4"/>
    <a:srgbClr val="E47F9D"/>
    <a:srgbClr val="FF758E"/>
    <a:srgbClr val="2F2F00"/>
    <a:srgbClr val="FFFF34"/>
    <a:srgbClr val="E0DC37"/>
    <a:srgbClr val="C3B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792"/>
  </p:normalViewPr>
  <p:slideViewPr>
    <p:cSldViewPr snapToGrid="0" snapToObjects="1">
      <p:cViewPr varScale="1">
        <p:scale>
          <a:sx n="18" d="100"/>
          <a:sy n="18" d="100"/>
        </p:scale>
        <p:origin x="4296" y="424"/>
      </p:cViewPr>
      <p:guideLst>
        <p:guide orient="horz" pos="5592"/>
        <p:guide orient="horz" pos="24946"/>
        <p:guide pos="-1042"/>
        <p:guide pos="6297"/>
        <p:guide pos="6680"/>
        <p:guide pos="21739"/>
        <p:guide pos="14017"/>
        <p:guide pos="1440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5DE89DF-C3F1-4E4B-8530-04051383B6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42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7375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4750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421252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95003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368753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284250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331625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3790005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eaLnBrk="1" hangingPunct="1"/>
            <a:fld id="{631708C0-155B-8E4C-A5E2-7C72EC18D446}" type="slidenum">
              <a:rPr lang="en-US" sz="1200">
                <a:latin typeface="Arial" charset="0"/>
              </a:rPr>
              <a:pPr eaLnBrk="1" hangingPunct="1"/>
              <a:t>1</a:t>
            </a:fld>
            <a:endParaRPr lang="en-US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85800"/>
            <a:ext cx="257175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7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74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2585" y="6406491"/>
            <a:ext cx="3669697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1637" y="6406491"/>
            <a:ext cx="3671150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4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8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9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402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117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98680" y="1697430"/>
            <a:ext cx="7864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2586" y="1697430"/>
            <a:ext cx="23456737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72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79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936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682" y="6406491"/>
            <a:ext cx="1575153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0571" y="6406491"/>
            <a:ext cx="1575298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25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54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22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83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0371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4086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524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677" y="1697430"/>
            <a:ext cx="7909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683" y="1697430"/>
            <a:ext cx="23594641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294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1" y="13634723"/>
            <a:ext cx="27980640" cy="940816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1" y="24871683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40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81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2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56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1C45D5-A1E6-2040-BD56-A305FA83BE5C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24845-DEC5-634D-99AC-60EB7F1823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95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1DECBC-D07A-B141-8132-D31C96FAF0B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9F8BC-CB14-C54F-A255-210A3F9F8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64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6"/>
            <a:ext cx="27980640" cy="8717280"/>
          </a:xfrm>
        </p:spPr>
        <p:txBody>
          <a:bodyPr anchor="t"/>
          <a:lstStyle>
            <a:lvl1pPr algn="l">
              <a:defRPr sz="18765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6"/>
            <a:ext cx="27980640" cy="9601197"/>
          </a:xfrm>
        </p:spPr>
        <p:txBody>
          <a:bodyPr anchor="b"/>
          <a:lstStyle>
            <a:lvl1pPr marL="0" indent="0">
              <a:buNone/>
              <a:defRPr sz="9331">
                <a:solidFill>
                  <a:schemeClr val="tx1">
                    <a:tint val="75000"/>
                  </a:schemeClr>
                </a:solidFill>
              </a:defRPr>
            </a:lvl1pPr>
            <a:lvl2pPr marL="2140975" indent="0">
              <a:buNone/>
              <a:defRPr sz="8408">
                <a:solidFill>
                  <a:schemeClr val="tx1">
                    <a:tint val="75000"/>
                  </a:schemeClr>
                </a:solidFill>
              </a:defRPr>
            </a:lvl2pPr>
            <a:lvl3pPr marL="4281949" indent="0">
              <a:buNone/>
              <a:defRPr sz="7485">
                <a:solidFill>
                  <a:schemeClr val="tx1">
                    <a:tint val="75000"/>
                  </a:schemeClr>
                </a:solidFill>
              </a:defRPr>
            </a:lvl3pPr>
            <a:lvl4pPr marL="642292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4pPr>
            <a:lvl5pPr marL="8563899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1ED854-ED0F-454E-831F-2FBFFC3334AF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6387C-E2D0-5440-92E7-017B852E25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4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A4AE9B-DABA-364A-9B12-F0C9020BA745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47B58-4829-754A-9A92-BE124A8139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99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9824725"/>
            <a:ext cx="14544676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2" y="13919200"/>
            <a:ext cx="14544676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5"/>
            <a:ext cx="14550391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0"/>
            <a:ext cx="14550391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61C632-2ABE-7442-A7EE-DE3F29DDF68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9922-69E4-0845-A4B2-0960412D39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78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751BBF-F284-DA4F-9DF8-1D86E02A796A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BC96A-116C-8A40-96EF-D84E1AC7B6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49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880733-C438-754B-A587-1D51672D5854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C2148-9CA0-0A44-8440-DA52381FC0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21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3"/>
          </a:xfrm>
        </p:spPr>
        <p:txBody>
          <a:bodyPr/>
          <a:lstStyle>
            <a:lvl1pPr>
              <a:defRPr sz="14971"/>
            </a:lvl1pPr>
            <a:lvl2pPr>
              <a:defRPr sz="13125"/>
            </a:lvl2pPr>
            <a:lvl3pPr>
              <a:defRPr sz="11279"/>
            </a:lvl3pPr>
            <a:lvl4pPr>
              <a:defRPr sz="9331"/>
            </a:lvl4pPr>
            <a:lvl5pPr>
              <a:defRPr sz="9331"/>
            </a:lvl5pPr>
            <a:lvl6pPr>
              <a:defRPr sz="9331"/>
            </a:lvl6pPr>
            <a:lvl7pPr>
              <a:defRPr sz="9331"/>
            </a:lvl7pPr>
            <a:lvl8pPr>
              <a:defRPr sz="9331"/>
            </a:lvl8pPr>
            <a:lvl9pPr>
              <a:defRPr sz="9331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3"/>
            <a:ext cx="10829927" cy="30022803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AE0B2-A145-7445-8E7F-29E33A906F2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4FE76-5C7A-B24E-A2DB-520DBCF177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10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30723842"/>
            <a:ext cx="19751040" cy="3627124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3921760"/>
            <a:ext cx="19751040" cy="26334720"/>
          </a:xfrm>
        </p:spPr>
        <p:txBody>
          <a:bodyPr rtlCol="0">
            <a:normAutofit/>
          </a:bodyPr>
          <a:lstStyle>
            <a:lvl1pPr marL="0" indent="0">
              <a:buNone/>
              <a:defRPr sz="14971"/>
            </a:lvl1pPr>
            <a:lvl2pPr marL="2140975" indent="0">
              <a:buNone/>
              <a:defRPr sz="13125"/>
            </a:lvl2pPr>
            <a:lvl3pPr marL="4281949" indent="0">
              <a:buNone/>
              <a:defRPr sz="11279"/>
            </a:lvl3pPr>
            <a:lvl4pPr marL="6422924" indent="0">
              <a:buNone/>
              <a:defRPr sz="9331"/>
            </a:lvl4pPr>
            <a:lvl5pPr marL="8563899" indent="0">
              <a:buNone/>
              <a:defRPr sz="9331"/>
            </a:lvl5pPr>
            <a:lvl6pPr marL="10704874" indent="0">
              <a:buNone/>
              <a:defRPr sz="9331"/>
            </a:lvl6pPr>
            <a:lvl7pPr marL="12845848" indent="0">
              <a:buNone/>
              <a:defRPr sz="9331"/>
            </a:lvl7pPr>
            <a:lvl8pPr marL="14986823" indent="0">
              <a:buNone/>
              <a:defRPr sz="9331"/>
            </a:lvl8pPr>
            <a:lvl9pPr marL="17127798" indent="0">
              <a:buNone/>
              <a:defRPr sz="933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34350963"/>
            <a:ext cx="19751040" cy="5151117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7F1CB0-680A-DB48-AFB0-2DF953CC8C69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82B60-49AA-F04E-912E-3C8CAD579A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99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C2DE-D5B4-FD4F-AE01-A9167F2BE58E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E08A8-087B-1541-B621-343E5312DB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8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7"/>
            <a:ext cx="7406640" cy="3744976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1" y="1757687"/>
            <a:ext cx="21671280" cy="3744976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D273D7-0A86-5541-A156-6517C19CCA48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D643E-2289-E447-8426-9517495022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24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702524" y="6407141"/>
            <a:ext cx="7480905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2524" y="6423420"/>
            <a:ext cx="7480905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54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5" name="Rectangle 9"/>
          <p:cNvSpPr>
            <a:spLocks noChangeArrowheads="1"/>
          </p:cNvSpPr>
          <p:nvPr/>
        </p:nvSpPr>
        <p:spPr bwMode="auto">
          <a:xfrm>
            <a:off x="8618406" y="6407141"/>
            <a:ext cx="15572848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6" name="Rectangle 11"/>
          <p:cNvSpPr>
            <a:spLocks noChangeArrowheads="1"/>
          </p:cNvSpPr>
          <p:nvPr/>
        </p:nvSpPr>
        <p:spPr bwMode="auto">
          <a:xfrm>
            <a:off x="24678013" y="6407141"/>
            <a:ext cx="7486083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7" name="Text Box 14"/>
          <p:cNvSpPr txBox="1">
            <a:spLocks noChangeArrowheads="1"/>
          </p:cNvSpPr>
          <p:nvPr userDrawn="1"/>
        </p:nvSpPr>
        <p:spPr bwMode="auto">
          <a:xfrm>
            <a:off x="702521" y="43334483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19558" y="6407141"/>
            <a:ext cx="31775722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9558" y="6407141"/>
            <a:ext cx="31644539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9" name="Text Box 14"/>
          <p:cNvSpPr txBox="1">
            <a:spLocks noChangeArrowheads="1"/>
          </p:cNvSpPr>
          <p:nvPr userDrawn="1"/>
        </p:nvSpPr>
        <p:spPr bwMode="auto">
          <a:xfrm>
            <a:off x="519555" y="43318204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Placeholder 1"/>
          <p:cNvSpPr>
            <a:spLocks noGrp="1"/>
          </p:cNvSpPr>
          <p:nvPr>
            <p:ph type="title"/>
          </p:nvPr>
        </p:nvSpPr>
        <p:spPr bwMode="auto">
          <a:xfrm>
            <a:off x="1646698" y="1758060"/>
            <a:ext cx="29625006" cy="7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6698" y="10240684"/>
            <a:ext cx="29625006" cy="28967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66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>
              <a:defRPr sz="5640">
                <a:solidFill>
                  <a:srgbClr val="898989"/>
                </a:solidFill>
              </a:defRPr>
            </a:lvl1pPr>
          </a:lstStyle>
          <a:p>
            <a:fld id="{A88F6752-6CB4-5543-81C3-F9189BF99658}" type="datetime1">
              <a:rPr lang="en-US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251" y="40681118"/>
            <a:ext cx="10423901" cy="2335937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ctr">
              <a:defRPr sz="5640" smtClean="0">
                <a:solidFill>
                  <a:schemeClr val="tx1">
                    <a:tint val="75000"/>
                  </a:schemeClr>
                </a:solidFill>
                <a:latin typeface="Arial Narrow" pitchFamily="27" charset="0"/>
                <a:ea typeface="ＭＳ Ｐゴシック" pitchFamily="27" charset="-128"/>
                <a:cs typeface="ＭＳ Ｐゴシック" pitchFamily="2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22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 algn="r">
              <a:defRPr sz="5640">
                <a:solidFill>
                  <a:srgbClr val="898989"/>
                </a:solidFill>
              </a:defRPr>
            </a:lvl1pPr>
          </a:lstStyle>
          <a:p>
            <a:fld id="{3050C3D8-E714-D142-987F-75BA96C8A8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2140587" rtl="0" fontAlgn="base">
        <a:spcBef>
          <a:spcPct val="0"/>
        </a:spcBef>
        <a:spcAft>
          <a:spcPct val="0"/>
        </a:spcAft>
        <a:defRPr sz="2061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68813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37626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406439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75252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1605033" indent="-1605033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4971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478657" indent="-133807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13125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52280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127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492867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633454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»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77536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6pPr>
      <a:lvl7pPr marL="13916335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7pPr>
      <a:lvl8pPr marL="1605731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8pPr>
      <a:lvl9pPr marL="18198284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1pPr>
      <a:lvl2pPr marL="2140975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2pPr>
      <a:lvl3pPr marL="428194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3pPr>
      <a:lvl4pPr marL="642292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4pPr>
      <a:lvl5pPr marL="856389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5pPr>
      <a:lvl6pPr marL="1070487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6pPr>
      <a:lvl7pPr marL="1284584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7pPr>
      <a:lvl8pPr marL="14986823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8pPr>
      <a:lvl9pPr marL="1712779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2" name="Rectangle 38961"/>
          <p:cNvSpPr/>
          <p:nvPr/>
        </p:nvSpPr>
        <p:spPr>
          <a:xfrm>
            <a:off x="9994392" y="8558784"/>
            <a:ext cx="12911328" cy="20464272"/>
          </a:xfrm>
          <a:prstGeom prst="rect">
            <a:avLst/>
          </a:prstGeom>
          <a:solidFill>
            <a:srgbClr val="F4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909135" y="5702127"/>
            <a:ext cx="30987308" cy="250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 anchor="ctr"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8000" b="1">
                <a:solidFill>
                  <a:srgbClr val="718C00"/>
                </a:solidFill>
                <a:latin typeface="Arial"/>
              </a:rPr>
              <a:t>CREDIT</a:t>
            </a:r>
            <a:r>
              <a:rPr sz="5400" b="1">
                <a:solidFill>
                  <a:srgbClr val="111111"/>
                </a:solidFill>
                <a:latin typeface="Arial"/>
              </a:rPr>
              <a:t>: Cost-Guided DSMEM Tiling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5200" b="1">
                <a:solidFill>
                  <a:srgbClr val="111111"/>
                </a:solidFill>
                <a:latin typeface="Arial"/>
              </a:rPr>
              <a:t>for Wide Reduction-Reuse GPU Kernels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33373B"/>
                </a:solidFill>
                <a:latin typeface="Arial"/>
              </a:rPr>
              <a:t>Zhengxiong Li  |  Fellow ID: ______  |  Advisors: Tsung-Wei Huang &amp; Umit Ogras  |  University of Wisconsin-Madison</a:t>
            </a:r>
          </a:p>
        </p:txBody>
      </p:sp>
      <p:sp>
        <p:nvSpPr>
          <p:cNvPr id="234" name="Rectangle 5"/>
          <p:cNvSpPr>
            <a:spLocks noChangeArrowheads="1"/>
          </p:cNvSpPr>
          <p:nvPr/>
        </p:nvSpPr>
        <p:spPr bwMode="auto">
          <a:xfrm>
            <a:off x="1151190" y="1714018"/>
            <a:ext cx="30987308" cy="238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6739" tIns="38363" rIns="76739" bIns="38363">
            <a:spAutoFit/>
          </a:bodyPr>
          <a:lstStyle/>
          <a:p>
            <a:r>
              <a:rPr lang="en-US" sz="15000" b="1" dirty="0">
                <a:latin typeface="Arial"/>
                <a:cs typeface="Arial"/>
              </a:rPr>
              <a:t>DAC Young Fellows</a:t>
            </a:r>
            <a:endParaRPr lang="en-US" sz="15000" dirty="0">
              <a:latin typeface="Helvetica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9376" y="41924807"/>
            <a:ext cx="30470937" cy="1389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741412-BC4F-1343-AC9C-66A7294E0880}"/>
              </a:ext>
            </a:extLst>
          </p:cNvPr>
          <p:cNvSpPr/>
          <p:nvPr/>
        </p:nvSpPr>
        <p:spPr>
          <a:xfrm>
            <a:off x="909135" y="4867835"/>
            <a:ext cx="31019468" cy="107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CFA788-E738-4D44-A46F-91517EC0BF0D}"/>
              </a:ext>
            </a:extLst>
          </p:cNvPr>
          <p:cNvSpPr/>
          <p:nvPr/>
        </p:nvSpPr>
        <p:spPr>
          <a:xfrm>
            <a:off x="909135" y="41476965"/>
            <a:ext cx="31019468" cy="107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D3D93-EDC8-CA85-E7F6-C412D5CA4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069" y="417628"/>
            <a:ext cx="9163198" cy="37780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C74C0A-DBA8-C2B1-E058-B3F840151486}"/>
              </a:ext>
            </a:extLst>
          </p:cNvPr>
          <p:cNvSpPr/>
          <p:nvPr/>
        </p:nvSpPr>
        <p:spPr>
          <a:xfrm>
            <a:off x="23458672" y="2306658"/>
            <a:ext cx="1145067" cy="755519"/>
          </a:xfrm>
          <a:prstGeom prst="rect">
            <a:avLst/>
          </a:prstGeom>
          <a:solidFill>
            <a:srgbClr val="949BA1"/>
          </a:solidFill>
          <a:ln>
            <a:noFill/>
          </a:ln>
          <a:effectLst>
            <a:outerShdw dist="23000" sx="1000" sy="1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C81A0-2A1F-2625-3ABC-F9D126AAB863}"/>
              </a:ext>
            </a:extLst>
          </p:cNvPr>
          <p:cNvSpPr txBox="1"/>
          <p:nvPr/>
        </p:nvSpPr>
        <p:spPr>
          <a:xfrm>
            <a:off x="23365676" y="2084252"/>
            <a:ext cx="1386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D0D0D0"/>
                </a:solidFill>
                <a:latin typeface="Eras Bold ITC" panose="020F0502020204030204" pitchFamily="34" charset="0"/>
                <a:cs typeface="Eras Bold ITC" panose="020F0502020204030204" pitchFamily="34" charset="0"/>
              </a:rPr>
              <a:t>63</a:t>
            </a:r>
          </a:p>
        </p:txBody>
      </p:sp>
      <p:sp>
        <p:nvSpPr>
          <p:cNvPr id="38916" name="Oval 38915"/>
          <p:cNvSpPr/>
          <p:nvPr/>
        </p:nvSpPr>
        <p:spPr>
          <a:xfrm>
            <a:off x="941832" y="8814816"/>
            <a:ext cx="658368" cy="658368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38917" name="TextBox 38916"/>
          <p:cNvSpPr txBox="1"/>
          <p:nvPr/>
        </p:nvSpPr>
        <p:spPr>
          <a:xfrm>
            <a:off x="1764792" y="8842248"/>
            <a:ext cx="790956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33373B"/>
                </a:solidFill>
                <a:latin typeface="Arial"/>
              </a:rPr>
              <a:t>THE PROBLEM</a:t>
            </a:r>
          </a:p>
        </p:txBody>
      </p:sp>
      <p:sp>
        <p:nvSpPr>
          <p:cNvPr id="38918" name="Rectangle 38917"/>
          <p:cNvSpPr/>
          <p:nvPr/>
        </p:nvSpPr>
        <p:spPr>
          <a:xfrm>
            <a:off x="1764792" y="9436608"/>
            <a:ext cx="7909560" cy="64008"/>
          </a:xfrm>
          <a:prstGeom prst="rect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9" name="TextBox 38918"/>
          <p:cNvSpPr txBox="1"/>
          <p:nvPr/>
        </p:nvSpPr>
        <p:spPr>
          <a:xfrm>
            <a:off x="941832" y="9774936"/>
            <a:ext cx="8732520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/>
              </a:rPr>
              <a:t>Wide rows hit the memory wall</a:t>
            </a:r>
          </a:p>
        </p:txBody>
      </p:sp>
      <p:sp>
        <p:nvSpPr>
          <p:cNvPr id="38920" name="TextBox 38919"/>
          <p:cNvSpPr txBox="1"/>
          <p:nvPr/>
        </p:nvSpPr>
        <p:spPr>
          <a:xfrm>
            <a:off x="941832" y="10661904"/>
            <a:ext cx="87325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66D75"/>
                </a:solidFill>
                <a:latin typeface="Arial"/>
              </a:rPr>
              <a:t>Conventional multi-pass schedule</a:t>
            </a:r>
          </a:p>
        </p:txBody>
      </p:sp>
      <p:sp>
        <p:nvSpPr>
          <p:cNvPr id="38921" name="Rounded Rectangle 38920"/>
          <p:cNvSpPr/>
          <p:nvPr/>
        </p:nvSpPr>
        <p:spPr>
          <a:xfrm>
            <a:off x="941832" y="11603736"/>
            <a:ext cx="2487168" cy="1024128"/>
          </a:xfrm>
          <a:prstGeom prst="roundRect">
            <a:avLst/>
          </a:prstGeom>
          <a:solidFill>
            <a:srgbClr val="F5F6F7"/>
          </a:solidFill>
          <a:ln w="22860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REDUCE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pass 1</a:t>
            </a:r>
          </a:p>
        </p:txBody>
      </p:sp>
      <p:sp>
        <p:nvSpPr>
          <p:cNvPr id="38922" name="Rounded Rectangle 38921"/>
          <p:cNvSpPr/>
          <p:nvPr/>
        </p:nvSpPr>
        <p:spPr>
          <a:xfrm>
            <a:off x="3886200" y="11603736"/>
            <a:ext cx="2487168" cy="1024128"/>
          </a:xfrm>
          <a:prstGeom prst="roundRect">
            <a:avLst/>
          </a:prstGeom>
          <a:solidFill>
            <a:srgbClr val="F5F6F7"/>
          </a:solidFill>
          <a:ln w="22860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REDUCE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pass 2</a:t>
            </a:r>
          </a:p>
        </p:txBody>
      </p:sp>
      <p:sp>
        <p:nvSpPr>
          <p:cNvPr id="38923" name="Rounded Rectangle 38922"/>
          <p:cNvSpPr/>
          <p:nvPr/>
        </p:nvSpPr>
        <p:spPr>
          <a:xfrm>
            <a:off x="6830568" y="11603736"/>
            <a:ext cx="2487168" cy="1024128"/>
          </a:xfrm>
          <a:prstGeom prst="roundRect">
            <a:avLst/>
          </a:prstGeom>
          <a:solidFill>
            <a:srgbClr val="F5F6F7"/>
          </a:solidFill>
          <a:ln w="22860">
            <a:solidFill>
              <a:srgbClr val="E4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3373B"/>
                </a:solidFill>
                <a:latin typeface="Arial"/>
              </a:rPr>
              <a:t>pass 3</a:t>
            </a:r>
          </a:p>
        </p:txBody>
      </p:sp>
      <p:sp>
        <p:nvSpPr>
          <p:cNvPr id="38924" name="Rectangle 38923"/>
          <p:cNvSpPr/>
          <p:nvPr/>
        </p:nvSpPr>
        <p:spPr>
          <a:xfrm>
            <a:off x="941832" y="13734288"/>
            <a:ext cx="8595360" cy="1024128"/>
          </a:xfrm>
          <a:prstGeom prst="rect">
            <a:avLst/>
          </a:prstGeom>
          <a:solidFill>
            <a:srgbClr val="FFF2E9"/>
          </a:solidFill>
          <a:ln w="26670">
            <a:solidFill>
              <a:srgbClr val="F47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3373B"/>
                </a:solidFill>
                <a:latin typeface="Arial"/>
              </a:rPr>
              <a:t>HBM: reload the same wide row</a:t>
            </a:r>
          </a:p>
        </p:txBody>
      </p:sp>
      <p:sp>
        <p:nvSpPr>
          <p:cNvPr id="38925" name="Up Arrow 38924"/>
          <p:cNvSpPr/>
          <p:nvPr/>
        </p:nvSpPr>
        <p:spPr>
          <a:xfrm>
            <a:off x="1938528" y="12673584"/>
            <a:ext cx="493776" cy="987552"/>
          </a:xfrm>
          <a:prstGeom prst="upArrow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6" name="TextBox 38925"/>
          <p:cNvSpPr txBox="1"/>
          <p:nvPr/>
        </p:nvSpPr>
        <p:spPr>
          <a:xfrm>
            <a:off x="1636776" y="13048488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A38"/>
                </a:solidFill>
                <a:latin typeface="Arial"/>
              </a:rPr>
              <a:t>read</a:t>
            </a:r>
          </a:p>
        </p:txBody>
      </p:sp>
      <p:sp>
        <p:nvSpPr>
          <p:cNvPr id="38927" name="Up Arrow 38926"/>
          <p:cNvSpPr/>
          <p:nvPr/>
        </p:nvSpPr>
        <p:spPr>
          <a:xfrm>
            <a:off x="4882896" y="12673584"/>
            <a:ext cx="493776" cy="987552"/>
          </a:xfrm>
          <a:prstGeom prst="upArrow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8" name="TextBox 38927"/>
          <p:cNvSpPr txBox="1"/>
          <p:nvPr/>
        </p:nvSpPr>
        <p:spPr>
          <a:xfrm>
            <a:off x="4581144" y="13048488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A38"/>
                </a:solidFill>
                <a:latin typeface="Arial"/>
              </a:rPr>
              <a:t>reread</a:t>
            </a:r>
          </a:p>
        </p:txBody>
      </p:sp>
      <p:sp>
        <p:nvSpPr>
          <p:cNvPr id="38929" name="Up Arrow 38928"/>
          <p:cNvSpPr/>
          <p:nvPr/>
        </p:nvSpPr>
        <p:spPr>
          <a:xfrm>
            <a:off x="7827264" y="12673584"/>
            <a:ext cx="493776" cy="987552"/>
          </a:xfrm>
          <a:prstGeom prst="upArrow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0" name="TextBox 38929"/>
          <p:cNvSpPr txBox="1"/>
          <p:nvPr/>
        </p:nvSpPr>
        <p:spPr>
          <a:xfrm>
            <a:off x="7525512" y="13048488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7A38"/>
                </a:solidFill>
                <a:latin typeface="Arial"/>
              </a:rPr>
              <a:t>reread</a:t>
            </a:r>
          </a:p>
        </p:txBody>
      </p:sp>
      <p:sp>
        <p:nvSpPr>
          <p:cNvPr id="38931" name="Oval 38930"/>
          <p:cNvSpPr/>
          <p:nvPr/>
        </p:nvSpPr>
        <p:spPr>
          <a:xfrm>
            <a:off x="941832" y="15297912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2" name="TextBox 38931"/>
          <p:cNvSpPr txBox="1"/>
          <p:nvPr/>
        </p:nvSpPr>
        <p:spPr>
          <a:xfrm>
            <a:off x="1325880" y="15151608"/>
            <a:ext cx="83484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One CTA cannot retain a wide row</a:t>
            </a:r>
          </a:p>
        </p:txBody>
      </p:sp>
      <p:sp>
        <p:nvSpPr>
          <p:cNvPr id="38933" name="Oval 38932"/>
          <p:cNvSpPr/>
          <p:nvPr/>
        </p:nvSpPr>
        <p:spPr>
          <a:xfrm>
            <a:off x="941832" y="15983712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4" name="TextBox 38933"/>
          <p:cNvSpPr txBox="1"/>
          <p:nvPr/>
        </p:nvSpPr>
        <p:spPr>
          <a:xfrm>
            <a:off x="1325880" y="15837408"/>
            <a:ext cx="83484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Later stages reread bulk data</a:t>
            </a:r>
          </a:p>
        </p:txBody>
      </p:sp>
      <p:sp>
        <p:nvSpPr>
          <p:cNvPr id="38935" name="Oval 38934"/>
          <p:cNvSpPr/>
          <p:nvPr/>
        </p:nvSpPr>
        <p:spPr>
          <a:xfrm>
            <a:off x="941832" y="16669512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6" name="TextBox 38935"/>
          <p:cNvSpPr txBox="1"/>
          <p:nvPr/>
        </p:nvSpPr>
        <p:spPr>
          <a:xfrm>
            <a:off x="1325880" y="16523208"/>
            <a:ext cx="83484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Naive clusters add barriers + remote traffic</a:t>
            </a:r>
          </a:p>
        </p:txBody>
      </p:sp>
      <p:sp>
        <p:nvSpPr>
          <p:cNvPr id="38937" name="TextBox 38936"/>
          <p:cNvSpPr txBox="1"/>
          <p:nvPr/>
        </p:nvSpPr>
        <p:spPr>
          <a:xfrm>
            <a:off x="941832" y="17556480"/>
            <a:ext cx="8732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DSMEM IS NOT FREE</a:t>
            </a:r>
          </a:p>
        </p:txBody>
      </p:sp>
      <p:sp>
        <p:nvSpPr>
          <p:cNvPr id="38938" name="TextBox 38937"/>
          <p:cNvSpPr txBox="1"/>
          <p:nvPr/>
        </p:nvSpPr>
        <p:spPr>
          <a:xfrm>
            <a:off x="941832" y="18269712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D75"/>
                </a:solidFill>
                <a:latin typeface="Arial"/>
              </a:rPr>
              <a:t>Local SMEM</a:t>
            </a:r>
          </a:p>
        </p:txBody>
      </p:sp>
      <p:sp>
        <p:nvSpPr>
          <p:cNvPr id="38939" name="Rectangle 38938"/>
          <p:cNvSpPr/>
          <p:nvPr/>
        </p:nvSpPr>
        <p:spPr>
          <a:xfrm>
            <a:off x="3483863" y="18324576"/>
            <a:ext cx="530352" cy="329184"/>
          </a:xfrm>
          <a:prstGeom prst="rect">
            <a:avLst/>
          </a:prstGeom>
          <a:solidFill>
            <a:srgbClr val="3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0" name="TextBox 38939"/>
          <p:cNvSpPr txBox="1"/>
          <p:nvPr/>
        </p:nvSpPr>
        <p:spPr>
          <a:xfrm>
            <a:off x="7507223" y="18251424"/>
            <a:ext cx="199339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30-34 cyc</a:t>
            </a:r>
          </a:p>
        </p:txBody>
      </p:sp>
      <p:sp>
        <p:nvSpPr>
          <p:cNvPr id="38941" name="TextBox 38940"/>
          <p:cNvSpPr txBox="1"/>
          <p:nvPr/>
        </p:nvSpPr>
        <p:spPr>
          <a:xfrm>
            <a:off x="941832" y="19028664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D75"/>
                </a:solidFill>
                <a:latin typeface="Arial"/>
              </a:rPr>
              <a:t>Remote DSMEM</a:t>
            </a:r>
          </a:p>
        </p:txBody>
      </p:sp>
      <p:sp>
        <p:nvSpPr>
          <p:cNvPr id="38942" name="Rectangle 38941"/>
          <p:cNvSpPr/>
          <p:nvPr/>
        </p:nvSpPr>
        <p:spPr>
          <a:xfrm>
            <a:off x="3483863" y="19083527"/>
            <a:ext cx="1600200" cy="32918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3" name="TextBox 38942"/>
          <p:cNvSpPr txBox="1"/>
          <p:nvPr/>
        </p:nvSpPr>
        <p:spPr>
          <a:xfrm>
            <a:off x="7507223" y="19010376"/>
            <a:ext cx="199339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2B2"/>
                </a:solidFill>
                <a:latin typeface="Arial"/>
              </a:rPr>
              <a:t>191-216 cyc</a:t>
            </a:r>
          </a:p>
        </p:txBody>
      </p:sp>
      <p:sp>
        <p:nvSpPr>
          <p:cNvPr id="38944" name="TextBox 38943"/>
          <p:cNvSpPr txBox="1"/>
          <p:nvPr/>
        </p:nvSpPr>
        <p:spPr>
          <a:xfrm>
            <a:off x="941832" y="19787616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D75"/>
                </a:solidFill>
                <a:latin typeface="Arial"/>
              </a:rPr>
              <a:t>DRAM</a:t>
            </a:r>
          </a:p>
        </p:txBody>
      </p:sp>
      <p:sp>
        <p:nvSpPr>
          <p:cNvPr id="38945" name="Rectangle 38944"/>
          <p:cNvSpPr/>
          <p:nvPr/>
        </p:nvSpPr>
        <p:spPr>
          <a:xfrm>
            <a:off x="3483863" y="19842480"/>
            <a:ext cx="3840480" cy="329184"/>
          </a:xfrm>
          <a:prstGeom prst="rect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6" name="TextBox 38945"/>
          <p:cNvSpPr txBox="1"/>
          <p:nvPr/>
        </p:nvSpPr>
        <p:spPr>
          <a:xfrm>
            <a:off x="7507223" y="19769328"/>
            <a:ext cx="199339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7A38"/>
                </a:solidFill>
                <a:latin typeface="Arial"/>
              </a:rPr>
              <a:t>688-930 cyc</a:t>
            </a:r>
          </a:p>
        </p:txBody>
      </p:sp>
      <p:sp>
        <p:nvSpPr>
          <p:cNvPr id="38947" name="TextBox 38946"/>
          <p:cNvSpPr txBox="1"/>
          <p:nvPr/>
        </p:nvSpPr>
        <p:spPr>
          <a:xfrm>
            <a:off x="941832" y="20692872"/>
            <a:ext cx="8732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66D75"/>
                </a:solidFill>
                <a:latin typeface="Arial"/>
              </a:rPr>
              <a:t>Cluster synchronization</a:t>
            </a:r>
          </a:p>
        </p:txBody>
      </p:sp>
      <p:sp>
        <p:nvSpPr>
          <p:cNvPr id="38948" name="Rounded Rectangle 38947"/>
          <p:cNvSpPr/>
          <p:nvPr/>
        </p:nvSpPr>
        <p:spPr>
          <a:xfrm>
            <a:off x="941832" y="21268944"/>
            <a:ext cx="4050791" cy="841248"/>
          </a:xfrm>
          <a:prstGeom prst="roundRect">
            <a:avLst/>
          </a:prstGeom>
          <a:solidFill>
            <a:srgbClr val="EAF4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72B2"/>
                </a:solidFill>
                <a:latin typeface="Arial"/>
              </a:rPr>
              <a:t>404 cycles  |  RTX 5090</a:t>
            </a:r>
          </a:p>
        </p:txBody>
      </p:sp>
      <p:sp>
        <p:nvSpPr>
          <p:cNvPr id="38949" name="Rounded Rectangle 38948"/>
          <p:cNvSpPr/>
          <p:nvPr/>
        </p:nvSpPr>
        <p:spPr>
          <a:xfrm>
            <a:off x="5239512" y="21268944"/>
            <a:ext cx="4050791" cy="84124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F47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7A38"/>
                </a:solidFill>
                <a:latin typeface="Arial"/>
              </a:rPr>
              <a:t>851 cycles  |  H100</a:t>
            </a:r>
          </a:p>
        </p:txBody>
      </p:sp>
      <p:sp>
        <p:nvSpPr>
          <p:cNvPr id="38950" name="Rounded Rectangle 38949"/>
          <p:cNvSpPr/>
          <p:nvPr/>
        </p:nvSpPr>
        <p:spPr>
          <a:xfrm>
            <a:off x="941832" y="22357080"/>
            <a:ext cx="8595360" cy="1536192"/>
          </a:xfrm>
          <a:prstGeom prst="roundRect">
            <a:avLst/>
          </a:prstGeom>
          <a:solidFill>
            <a:srgbClr val="FFF2E9"/>
          </a:solidFill>
          <a:ln w="29209">
            <a:solidFill>
              <a:srgbClr val="F47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3373B"/>
                </a:solidFill>
                <a:latin typeface="Arial"/>
              </a:rPr>
              <a:t>Can avoided rereads repay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3373B"/>
                </a:solidFill>
                <a:latin typeface="Arial"/>
              </a:rPr>
              <a:t>cluster overhead?</a:t>
            </a:r>
          </a:p>
        </p:txBody>
      </p:sp>
      <p:sp>
        <p:nvSpPr>
          <p:cNvPr id="38951" name="TextBox 38950"/>
          <p:cNvSpPr txBox="1"/>
          <p:nvPr/>
        </p:nvSpPr>
        <p:spPr>
          <a:xfrm>
            <a:off x="941832" y="24277320"/>
            <a:ext cx="8732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73B"/>
                </a:solidFill>
                <a:latin typeface="Arial"/>
              </a:rPr>
              <a:t>WHY WIDTH HELPS</a:t>
            </a:r>
          </a:p>
        </p:txBody>
      </p:sp>
      <p:cxnSp>
        <p:nvCxnSpPr>
          <p:cNvPr id="38952" name="Connector 38951"/>
          <p:cNvCxnSpPr/>
          <p:nvPr/>
        </p:nvCxnSpPr>
        <p:spPr>
          <a:xfrm>
            <a:off x="1673352" y="27432000"/>
            <a:ext cx="7680960" cy="0"/>
          </a:xfrm>
          <a:prstGeom prst="line">
            <a:avLst/>
          </a:prstGeom>
          <a:ln w="21590">
            <a:solidFill>
              <a:srgbClr val="3337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53" name="Connector 38952"/>
          <p:cNvCxnSpPr/>
          <p:nvPr/>
        </p:nvCxnSpPr>
        <p:spPr>
          <a:xfrm>
            <a:off x="1673352" y="24990552"/>
            <a:ext cx="0" cy="2441448"/>
          </a:xfrm>
          <a:prstGeom prst="line">
            <a:avLst/>
          </a:prstGeom>
          <a:ln w="21590">
            <a:solidFill>
              <a:srgbClr val="3337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54" name="Connector 38953"/>
          <p:cNvCxnSpPr/>
          <p:nvPr/>
        </p:nvCxnSpPr>
        <p:spPr>
          <a:xfrm flipV="1">
            <a:off x="1901952" y="25118568"/>
            <a:ext cx="7360920" cy="2148840"/>
          </a:xfrm>
          <a:prstGeom prst="line">
            <a:avLst/>
          </a:prstGeom>
          <a:ln w="40640">
            <a:solidFill>
              <a:srgbClr val="71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55" name="Connector 38954"/>
          <p:cNvCxnSpPr/>
          <p:nvPr/>
        </p:nvCxnSpPr>
        <p:spPr>
          <a:xfrm>
            <a:off x="1901952" y="26179272"/>
            <a:ext cx="7360920" cy="0"/>
          </a:xfrm>
          <a:prstGeom prst="line">
            <a:avLst/>
          </a:prstGeom>
          <a:ln w="40640">
            <a:solidFill>
              <a:srgbClr val="F47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56" name="Oval 38955"/>
          <p:cNvSpPr/>
          <p:nvPr/>
        </p:nvSpPr>
        <p:spPr>
          <a:xfrm>
            <a:off x="5559552" y="26060400"/>
            <a:ext cx="237744" cy="237744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57" name="Connector 38956"/>
          <p:cNvCxnSpPr/>
          <p:nvPr/>
        </p:nvCxnSpPr>
        <p:spPr>
          <a:xfrm>
            <a:off x="5678424" y="26325576"/>
            <a:ext cx="0" cy="1106424"/>
          </a:xfrm>
          <a:prstGeom prst="line">
            <a:avLst/>
          </a:prstGeom>
          <a:ln w="16510">
            <a:solidFill>
              <a:srgbClr val="666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58" name="TextBox 38957"/>
          <p:cNvSpPr txBox="1"/>
          <p:nvPr/>
        </p:nvSpPr>
        <p:spPr>
          <a:xfrm>
            <a:off x="5971032" y="25027128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18C00"/>
                </a:solidFill>
                <a:latin typeface="Arial"/>
              </a:rPr>
              <a:t>avoided reread ∝ N</a:t>
            </a:r>
          </a:p>
        </p:txBody>
      </p:sp>
      <p:sp>
        <p:nvSpPr>
          <p:cNvPr id="38959" name="TextBox 38958"/>
          <p:cNvSpPr txBox="1"/>
          <p:nvPr/>
        </p:nvSpPr>
        <p:spPr>
          <a:xfrm>
            <a:off x="5971032" y="25703784"/>
            <a:ext cx="32461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7A38"/>
                </a:solidFill>
                <a:latin typeface="Arial"/>
              </a:rPr>
              <a:t>cluster cost</a:t>
            </a:r>
          </a:p>
        </p:txBody>
      </p:sp>
      <p:sp>
        <p:nvSpPr>
          <p:cNvPr id="38960" name="TextBox 38959"/>
          <p:cNvSpPr txBox="1"/>
          <p:nvPr/>
        </p:nvSpPr>
        <p:spPr>
          <a:xfrm>
            <a:off x="4599432" y="27486864"/>
            <a:ext cx="215798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66D75"/>
                </a:solidFill>
                <a:latin typeface="Arial"/>
              </a:rPr>
              <a:t>crossover N*</a:t>
            </a:r>
          </a:p>
        </p:txBody>
      </p:sp>
      <p:sp>
        <p:nvSpPr>
          <p:cNvPr id="38961" name="TextBox 38960"/>
          <p:cNvSpPr txBox="1"/>
          <p:nvPr/>
        </p:nvSpPr>
        <p:spPr>
          <a:xfrm>
            <a:off x="9052560" y="27413712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N</a:t>
            </a:r>
          </a:p>
        </p:txBody>
      </p:sp>
      <p:sp>
        <p:nvSpPr>
          <p:cNvPr id="38963" name="Oval 38962"/>
          <p:cNvSpPr/>
          <p:nvPr/>
        </p:nvSpPr>
        <p:spPr>
          <a:xfrm>
            <a:off x="10222992" y="8814816"/>
            <a:ext cx="658368" cy="658368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38964" name="TextBox 38963"/>
          <p:cNvSpPr txBox="1"/>
          <p:nvPr/>
        </p:nvSpPr>
        <p:spPr>
          <a:xfrm>
            <a:off x="11045952" y="8842248"/>
            <a:ext cx="11631167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33373B"/>
                </a:solidFill>
                <a:latin typeface="Arial"/>
              </a:rPr>
              <a:t>CREDIT</a:t>
            </a:r>
          </a:p>
        </p:txBody>
      </p:sp>
      <p:sp>
        <p:nvSpPr>
          <p:cNvPr id="38965" name="Rectangle 38964"/>
          <p:cNvSpPr/>
          <p:nvPr/>
        </p:nvSpPr>
        <p:spPr>
          <a:xfrm>
            <a:off x="11045952" y="9436608"/>
            <a:ext cx="11631167" cy="64008"/>
          </a:xfrm>
          <a:prstGeom prst="rect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6" name="TextBox 38965"/>
          <p:cNvSpPr txBox="1"/>
          <p:nvPr/>
        </p:nvSpPr>
        <p:spPr>
          <a:xfrm>
            <a:off x="10222992" y="9756648"/>
            <a:ext cx="12454128" cy="1554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18C00"/>
                </a:solidFill>
                <a:latin typeface="Arial"/>
              </a:rPr>
              <a:t>KEEP BULK DATA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718C00"/>
                </a:solidFill>
                <a:latin typeface="Arial"/>
              </a:rPr>
              <a:t>EXCHANGE ONLY SCALAR PARTIALS</a:t>
            </a:r>
          </a:p>
        </p:txBody>
      </p:sp>
      <p:sp>
        <p:nvSpPr>
          <p:cNvPr id="38967" name="Rectangle 38966"/>
          <p:cNvSpPr/>
          <p:nvPr/>
        </p:nvSpPr>
        <p:spPr>
          <a:xfrm>
            <a:off x="10222992" y="11667744"/>
            <a:ext cx="3024377" cy="868680"/>
          </a:xfrm>
          <a:prstGeom prst="rect">
            <a:avLst/>
          </a:prstGeom>
          <a:solidFill>
            <a:srgbClr val="DDE9A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3373B"/>
                </a:solidFill>
                <a:latin typeface="Arial"/>
              </a:rPr>
              <a:t>ROW SLICE 0</a:t>
            </a:r>
          </a:p>
        </p:txBody>
      </p:sp>
      <p:sp>
        <p:nvSpPr>
          <p:cNvPr id="38968" name="Rectangle 38967"/>
          <p:cNvSpPr/>
          <p:nvPr/>
        </p:nvSpPr>
        <p:spPr>
          <a:xfrm>
            <a:off x="13366242" y="11667744"/>
            <a:ext cx="3024377" cy="868680"/>
          </a:xfrm>
          <a:prstGeom prst="rect">
            <a:avLst/>
          </a:prstGeom>
          <a:solidFill>
            <a:srgbClr val="C8DC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3373B"/>
                </a:solidFill>
                <a:latin typeface="Arial"/>
              </a:rPr>
              <a:t>ROW SLICE 1</a:t>
            </a:r>
          </a:p>
        </p:txBody>
      </p:sp>
      <p:sp>
        <p:nvSpPr>
          <p:cNvPr id="38969" name="Rectangle 38968"/>
          <p:cNvSpPr/>
          <p:nvPr/>
        </p:nvSpPr>
        <p:spPr>
          <a:xfrm>
            <a:off x="16509492" y="11667744"/>
            <a:ext cx="3024377" cy="868680"/>
          </a:xfrm>
          <a:prstGeom prst="rect">
            <a:avLst/>
          </a:prstGeom>
          <a:solidFill>
            <a:srgbClr val="F5D8C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3373B"/>
                </a:solidFill>
                <a:latin typeface="Arial"/>
              </a:rPr>
              <a:t>ROW SLICE 2</a:t>
            </a:r>
          </a:p>
        </p:txBody>
      </p:sp>
      <p:sp>
        <p:nvSpPr>
          <p:cNvPr id="38970" name="Rectangle 38969"/>
          <p:cNvSpPr/>
          <p:nvPr/>
        </p:nvSpPr>
        <p:spPr>
          <a:xfrm>
            <a:off x="19652742" y="11667744"/>
            <a:ext cx="3024377" cy="868680"/>
          </a:xfrm>
          <a:prstGeom prst="rect">
            <a:avLst/>
          </a:prstGeom>
          <a:solidFill>
            <a:srgbClr val="D9DDE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3373B"/>
                </a:solidFill>
                <a:latin typeface="Arial"/>
              </a:rPr>
              <a:t>ROW SLICE 3</a:t>
            </a:r>
          </a:p>
        </p:txBody>
      </p:sp>
      <p:sp>
        <p:nvSpPr>
          <p:cNvPr id="38971" name="TextBox 38970"/>
          <p:cNvSpPr txBox="1"/>
          <p:nvPr/>
        </p:nvSpPr>
        <p:spPr>
          <a:xfrm>
            <a:off x="10222992" y="11274552"/>
            <a:ext cx="124541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D75"/>
                </a:solidFill>
                <a:latin typeface="Arial"/>
              </a:rPr>
              <a:t>Partition one row across a thread-block cluster</a:t>
            </a:r>
          </a:p>
        </p:txBody>
      </p:sp>
      <p:sp>
        <p:nvSpPr>
          <p:cNvPr id="38972" name="Down Arrow 38971"/>
          <p:cNvSpPr/>
          <p:nvPr/>
        </p:nvSpPr>
        <p:spPr>
          <a:xfrm>
            <a:off x="11524869" y="12600432"/>
            <a:ext cx="420624" cy="758952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3" name="Rounded Rectangle 38972"/>
          <p:cNvSpPr/>
          <p:nvPr/>
        </p:nvSpPr>
        <p:spPr>
          <a:xfrm>
            <a:off x="10222992" y="13523976"/>
            <a:ext cx="3024377" cy="116128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CTA 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local SMEM</a:t>
            </a:r>
          </a:p>
        </p:txBody>
      </p:sp>
      <p:sp>
        <p:nvSpPr>
          <p:cNvPr id="38974" name="Down Arrow 38973"/>
          <p:cNvSpPr/>
          <p:nvPr/>
        </p:nvSpPr>
        <p:spPr>
          <a:xfrm>
            <a:off x="11534013" y="14740128"/>
            <a:ext cx="402336" cy="576072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5" name="Oval 38974"/>
          <p:cNvSpPr/>
          <p:nvPr/>
        </p:nvSpPr>
        <p:spPr>
          <a:xfrm>
            <a:off x="11351133" y="15425928"/>
            <a:ext cx="768096" cy="7680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ρ0</a:t>
            </a:r>
          </a:p>
        </p:txBody>
      </p:sp>
      <p:sp>
        <p:nvSpPr>
          <p:cNvPr id="38976" name="Down Arrow 38975"/>
          <p:cNvSpPr/>
          <p:nvPr/>
        </p:nvSpPr>
        <p:spPr>
          <a:xfrm>
            <a:off x="14668118" y="12600432"/>
            <a:ext cx="420624" cy="758952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7" name="Rounded Rectangle 38976"/>
          <p:cNvSpPr/>
          <p:nvPr/>
        </p:nvSpPr>
        <p:spPr>
          <a:xfrm>
            <a:off x="13366242" y="13523976"/>
            <a:ext cx="3024377" cy="116128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CTA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local SMEM</a:t>
            </a:r>
          </a:p>
        </p:txBody>
      </p:sp>
      <p:sp>
        <p:nvSpPr>
          <p:cNvPr id="38978" name="Down Arrow 38977"/>
          <p:cNvSpPr/>
          <p:nvPr/>
        </p:nvSpPr>
        <p:spPr>
          <a:xfrm>
            <a:off x="14677263" y="14740128"/>
            <a:ext cx="402336" cy="576072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9" name="Oval 38978"/>
          <p:cNvSpPr/>
          <p:nvPr/>
        </p:nvSpPr>
        <p:spPr>
          <a:xfrm>
            <a:off x="14494382" y="15425928"/>
            <a:ext cx="768096" cy="7680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ρ1</a:t>
            </a:r>
          </a:p>
        </p:txBody>
      </p:sp>
      <p:sp>
        <p:nvSpPr>
          <p:cNvPr id="38980" name="Down Arrow 38979"/>
          <p:cNvSpPr/>
          <p:nvPr/>
        </p:nvSpPr>
        <p:spPr>
          <a:xfrm>
            <a:off x="17811369" y="12600432"/>
            <a:ext cx="420624" cy="758952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1" name="Rounded Rectangle 38980"/>
          <p:cNvSpPr/>
          <p:nvPr/>
        </p:nvSpPr>
        <p:spPr>
          <a:xfrm>
            <a:off x="16509492" y="13523976"/>
            <a:ext cx="3024377" cy="116128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CTA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local SMEM</a:t>
            </a:r>
          </a:p>
        </p:txBody>
      </p:sp>
      <p:sp>
        <p:nvSpPr>
          <p:cNvPr id="38982" name="Down Arrow 38981"/>
          <p:cNvSpPr/>
          <p:nvPr/>
        </p:nvSpPr>
        <p:spPr>
          <a:xfrm>
            <a:off x="17820513" y="14740128"/>
            <a:ext cx="402336" cy="576072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3" name="Oval 38982"/>
          <p:cNvSpPr/>
          <p:nvPr/>
        </p:nvSpPr>
        <p:spPr>
          <a:xfrm>
            <a:off x="17637632" y="15425928"/>
            <a:ext cx="768096" cy="7680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ρ2</a:t>
            </a:r>
          </a:p>
        </p:txBody>
      </p:sp>
      <p:sp>
        <p:nvSpPr>
          <p:cNvPr id="38984" name="Down Arrow 38983"/>
          <p:cNvSpPr/>
          <p:nvPr/>
        </p:nvSpPr>
        <p:spPr>
          <a:xfrm>
            <a:off x="20954619" y="12600432"/>
            <a:ext cx="420624" cy="758952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5" name="Rounded Rectangle 38984"/>
          <p:cNvSpPr/>
          <p:nvPr/>
        </p:nvSpPr>
        <p:spPr>
          <a:xfrm>
            <a:off x="19652742" y="13523976"/>
            <a:ext cx="3024377" cy="1161288"/>
          </a:xfrm>
          <a:prstGeom prst="roundRect">
            <a:avLst/>
          </a:prstGeom>
          <a:solidFill>
            <a:srgbClr val="FFFFFF"/>
          </a:solidFill>
          <a:ln w="2667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CTA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local SMEM</a:t>
            </a:r>
          </a:p>
        </p:txBody>
      </p:sp>
      <p:sp>
        <p:nvSpPr>
          <p:cNvPr id="38986" name="Down Arrow 38985"/>
          <p:cNvSpPr/>
          <p:nvPr/>
        </p:nvSpPr>
        <p:spPr>
          <a:xfrm>
            <a:off x="20963763" y="14740128"/>
            <a:ext cx="402336" cy="576072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7" name="Oval 38986"/>
          <p:cNvSpPr/>
          <p:nvPr/>
        </p:nvSpPr>
        <p:spPr>
          <a:xfrm>
            <a:off x="20780882" y="15425928"/>
            <a:ext cx="768096" cy="7680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ρ3</a:t>
            </a:r>
          </a:p>
        </p:txBody>
      </p:sp>
      <p:sp>
        <p:nvSpPr>
          <p:cNvPr id="38988" name="Rounded Rectangle 38987"/>
          <p:cNvSpPr/>
          <p:nvPr/>
        </p:nvSpPr>
        <p:spPr>
          <a:xfrm>
            <a:off x="10588752" y="16495776"/>
            <a:ext cx="11722607" cy="1005840"/>
          </a:xfrm>
          <a:prstGeom prst="roundRect">
            <a:avLst/>
          </a:prstGeom>
          <a:solidFill>
            <a:srgbClr val="EAF4F9"/>
          </a:solidFill>
          <a:ln w="2794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2B2"/>
                </a:solidFill>
                <a:latin typeface="Arial"/>
              </a:rPr>
              <a:t>DSMEM replicated push: compact partials only</a:t>
            </a:r>
          </a:p>
        </p:txBody>
      </p:sp>
      <p:sp>
        <p:nvSpPr>
          <p:cNvPr id="38989" name="Down Arrow 38988"/>
          <p:cNvSpPr/>
          <p:nvPr/>
        </p:nvSpPr>
        <p:spPr>
          <a:xfrm>
            <a:off x="11552301" y="16203168"/>
            <a:ext cx="365760" cy="283464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0" name="Down Arrow 38989"/>
          <p:cNvSpPr/>
          <p:nvPr/>
        </p:nvSpPr>
        <p:spPr>
          <a:xfrm>
            <a:off x="14695551" y="16203168"/>
            <a:ext cx="365760" cy="283464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1" name="Down Arrow 38990"/>
          <p:cNvSpPr/>
          <p:nvPr/>
        </p:nvSpPr>
        <p:spPr>
          <a:xfrm>
            <a:off x="17838801" y="16203168"/>
            <a:ext cx="365760" cy="283464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2" name="Down Arrow 38991"/>
          <p:cNvSpPr/>
          <p:nvPr/>
        </p:nvSpPr>
        <p:spPr>
          <a:xfrm>
            <a:off x="20982051" y="16203168"/>
            <a:ext cx="365760" cy="283464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3" name="Down Arrow 38992"/>
          <p:cNvSpPr/>
          <p:nvPr/>
        </p:nvSpPr>
        <p:spPr>
          <a:xfrm>
            <a:off x="11524869" y="17547335"/>
            <a:ext cx="420624" cy="640080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4" name="Rounded Rectangle 38993"/>
          <p:cNvSpPr/>
          <p:nvPr/>
        </p:nvSpPr>
        <p:spPr>
          <a:xfrm>
            <a:off x="10222992" y="18324576"/>
            <a:ext cx="3024377" cy="10607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reuse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slice → output</a:t>
            </a:r>
          </a:p>
        </p:txBody>
      </p:sp>
      <p:sp>
        <p:nvSpPr>
          <p:cNvPr id="38995" name="Down Arrow 38994"/>
          <p:cNvSpPr/>
          <p:nvPr/>
        </p:nvSpPr>
        <p:spPr>
          <a:xfrm>
            <a:off x="14668118" y="17547335"/>
            <a:ext cx="420624" cy="640080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6" name="Rounded Rectangle 38995"/>
          <p:cNvSpPr/>
          <p:nvPr/>
        </p:nvSpPr>
        <p:spPr>
          <a:xfrm>
            <a:off x="13366242" y="18324576"/>
            <a:ext cx="3024377" cy="10607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reuse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slice → output</a:t>
            </a:r>
          </a:p>
        </p:txBody>
      </p:sp>
      <p:sp>
        <p:nvSpPr>
          <p:cNvPr id="38997" name="Down Arrow 38996"/>
          <p:cNvSpPr/>
          <p:nvPr/>
        </p:nvSpPr>
        <p:spPr>
          <a:xfrm>
            <a:off x="17811369" y="17547335"/>
            <a:ext cx="420624" cy="640080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8" name="Rounded Rectangle 38997"/>
          <p:cNvSpPr/>
          <p:nvPr/>
        </p:nvSpPr>
        <p:spPr>
          <a:xfrm>
            <a:off x="16509492" y="18324576"/>
            <a:ext cx="3024377" cy="10607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reuse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slice → output</a:t>
            </a:r>
          </a:p>
        </p:txBody>
      </p:sp>
      <p:sp>
        <p:nvSpPr>
          <p:cNvPr id="38999" name="Down Arrow 38998"/>
          <p:cNvSpPr/>
          <p:nvPr/>
        </p:nvSpPr>
        <p:spPr>
          <a:xfrm>
            <a:off x="20954619" y="17547335"/>
            <a:ext cx="420624" cy="640080"/>
          </a:xfrm>
          <a:prstGeom prst="downArrow">
            <a:avLst/>
          </a:prstGeom>
          <a:solidFill>
            <a:srgbClr val="71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0" name="Rounded Rectangle 38999"/>
          <p:cNvSpPr/>
          <p:nvPr/>
        </p:nvSpPr>
        <p:spPr>
          <a:xfrm>
            <a:off x="19652742" y="18324576"/>
            <a:ext cx="3024377" cy="10607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reuse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3373B"/>
                </a:solidFill>
                <a:latin typeface="Arial"/>
              </a:rPr>
              <a:t>slice → output</a:t>
            </a:r>
          </a:p>
        </p:txBody>
      </p:sp>
      <p:sp>
        <p:nvSpPr>
          <p:cNvPr id="39001" name="Rounded Rectangle 39000"/>
          <p:cNvSpPr/>
          <p:nvPr/>
        </p:nvSpPr>
        <p:spPr>
          <a:xfrm>
            <a:off x="10222992" y="19732752"/>
            <a:ext cx="4017264" cy="1399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0"/>
          <a:lstStyle/>
          <a:p>
            <a:pPr algn="ctr"/>
            <a:r>
              <a:rPr sz="2400" b="1">
                <a:solidFill>
                  <a:srgbClr val="718C00"/>
                </a:solidFill>
                <a:latin typeface="Arial"/>
              </a:rPr>
              <a:t>O(N/P)</a:t>
            </a:r>
          </a:p>
          <a:p>
            <a:pPr algn="ctr">
              <a:spcBef>
                <a:spcPts val="0"/>
              </a:spcBef>
            </a:pPr>
            <a:r>
              <a:rPr sz="1700">
                <a:solidFill>
                  <a:srgbClr val="666D75"/>
                </a:solidFill>
                <a:latin typeface="Arial"/>
              </a:rPr>
              <a:t>local bytes / CTA</a:t>
            </a:r>
          </a:p>
        </p:txBody>
      </p:sp>
      <p:sp>
        <p:nvSpPr>
          <p:cNvPr id="39002" name="Rounded Rectangle 39001"/>
          <p:cNvSpPr/>
          <p:nvPr/>
        </p:nvSpPr>
        <p:spPr>
          <a:xfrm>
            <a:off x="14441424" y="19732752"/>
            <a:ext cx="4017264" cy="1399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0"/>
          <a:lstStyle/>
          <a:p>
            <a:pPr algn="ctr"/>
            <a:r>
              <a:rPr sz="2400" b="1">
                <a:solidFill>
                  <a:srgbClr val="0072B2"/>
                </a:solidFill>
                <a:latin typeface="Arial"/>
              </a:rPr>
              <a:t>O(P² Σq)</a:t>
            </a:r>
          </a:p>
          <a:p>
            <a:pPr algn="ctr">
              <a:spcBef>
                <a:spcPts val="0"/>
              </a:spcBef>
            </a:pPr>
            <a:r>
              <a:rPr sz="1700">
                <a:solidFill>
                  <a:srgbClr val="666D75"/>
                </a:solidFill>
                <a:latin typeface="Arial"/>
              </a:rPr>
              <a:t>remote bytes / row</a:t>
            </a:r>
          </a:p>
        </p:txBody>
      </p:sp>
      <p:sp>
        <p:nvSpPr>
          <p:cNvPr id="39003" name="Rounded Rectangle 39002"/>
          <p:cNvSpPr/>
          <p:nvPr/>
        </p:nvSpPr>
        <p:spPr>
          <a:xfrm>
            <a:off x="18659856" y="19732752"/>
            <a:ext cx="4017264" cy="1399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0"/>
          <a:lstStyle/>
          <a:p>
            <a:pPr algn="ctr"/>
            <a:r>
              <a:rPr sz="2400" b="1">
                <a:solidFill>
                  <a:srgbClr val="F47A38"/>
                </a:solidFill>
                <a:latin typeface="Arial"/>
              </a:rPr>
              <a:t>ZERO</a:t>
            </a:r>
          </a:p>
          <a:p>
            <a:pPr algn="ctr">
              <a:spcBef>
                <a:spcPts val="0"/>
              </a:spcBef>
            </a:pPr>
            <a:r>
              <a:rPr sz="1700">
                <a:solidFill>
                  <a:srgbClr val="666D75"/>
                </a:solidFill>
                <a:latin typeface="Arial"/>
              </a:rPr>
              <a:t>remote bulk reads</a:t>
            </a:r>
          </a:p>
        </p:txBody>
      </p:sp>
      <p:sp>
        <p:nvSpPr>
          <p:cNvPr id="39004" name="TextBox 39003"/>
          <p:cNvSpPr txBox="1"/>
          <p:nvPr/>
        </p:nvSpPr>
        <p:spPr>
          <a:xfrm>
            <a:off x="10222992" y="21634703"/>
            <a:ext cx="124541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3373B"/>
                </a:solidFill>
                <a:latin typeface="Arial"/>
              </a:rPr>
              <a:t>COST-GUIDED GENERATION</a:t>
            </a:r>
          </a:p>
        </p:txBody>
      </p:sp>
      <p:sp>
        <p:nvSpPr>
          <p:cNvPr id="39005" name="TextBox 39004"/>
          <p:cNvSpPr txBox="1"/>
          <p:nvPr/>
        </p:nvSpPr>
        <p:spPr>
          <a:xfrm>
            <a:off x="10222992" y="22265639"/>
            <a:ext cx="1245412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66D75"/>
                </a:solidFill>
                <a:latin typeface="Arial"/>
              </a:rPr>
              <a:t>Predicted benefit =</a:t>
            </a:r>
          </a:p>
        </p:txBody>
      </p:sp>
      <p:sp>
        <p:nvSpPr>
          <p:cNvPr id="39006" name="Rounded Rectangle 39005"/>
          <p:cNvSpPr/>
          <p:nvPr/>
        </p:nvSpPr>
        <p:spPr>
          <a:xfrm>
            <a:off x="10222992" y="22942295"/>
            <a:ext cx="2996946" cy="1143000"/>
          </a:xfrm>
          <a:prstGeom prst="roundRect">
            <a:avLst/>
          </a:prstGeom>
          <a:solidFill>
            <a:srgbClr val="F4F8E7"/>
          </a:solidFill>
          <a:ln w="1270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C00"/>
                </a:solidFill>
                <a:latin typeface="Arial"/>
              </a:rPr>
              <a:t>saved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18C00"/>
                </a:solidFill>
                <a:latin typeface="Arial"/>
              </a:rPr>
              <a:t>reread</a:t>
            </a:r>
          </a:p>
        </p:txBody>
      </p:sp>
      <p:sp>
        <p:nvSpPr>
          <p:cNvPr id="39007" name="Rounded Rectangle 39006"/>
          <p:cNvSpPr/>
          <p:nvPr/>
        </p:nvSpPr>
        <p:spPr>
          <a:xfrm>
            <a:off x="13375386" y="22942295"/>
            <a:ext cx="2996946" cy="1143000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F47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7A38"/>
                </a:solidFill>
                <a:latin typeface="Arial"/>
              </a:rPr>
              <a:t>cluster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47A38"/>
                </a:solidFill>
                <a:latin typeface="Arial"/>
              </a:rPr>
              <a:t>control</a:t>
            </a:r>
          </a:p>
        </p:txBody>
      </p:sp>
      <p:sp>
        <p:nvSpPr>
          <p:cNvPr id="39008" name="Oval 39007"/>
          <p:cNvSpPr/>
          <p:nvPr/>
        </p:nvSpPr>
        <p:spPr>
          <a:xfrm>
            <a:off x="13128498" y="2332634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3373B"/>
                </a:solidFill>
                <a:latin typeface="Arial"/>
              </a:rPr>
              <a:t>-</a:t>
            </a:r>
          </a:p>
        </p:txBody>
      </p:sp>
      <p:sp>
        <p:nvSpPr>
          <p:cNvPr id="39009" name="Rounded Rectangle 39008"/>
          <p:cNvSpPr/>
          <p:nvPr/>
        </p:nvSpPr>
        <p:spPr>
          <a:xfrm>
            <a:off x="16527780" y="22942295"/>
            <a:ext cx="2996946" cy="114300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33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3373B"/>
                </a:solidFill>
                <a:latin typeface="Arial"/>
              </a:rPr>
              <a:t>replay</a:t>
            </a:r>
          </a:p>
        </p:txBody>
      </p:sp>
      <p:sp>
        <p:nvSpPr>
          <p:cNvPr id="39010" name="Oval 39009"/>
          <p:cNvSpPr/>
          <p:nvPr/>
        </p:nvSpPr>
        <p:spPr>
          <a:xfrm>
            <a:off x="16280892" y="2332634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3373B"/>
                </a:solidFill>
                <a:latin typeface="Arial"/>
              </a:rPr>
              <a:t>-</a:t>
            </a:r>
          </a:p>
        </p:txBody>
      </p:sp>
      <p:sp>
        <p:nvSpPr>
          <p:cNvPr id="39011" name="Rounded Rectangle 39010"/>
          <p:cNvSpPr/>
          <p:nvPr/>
        </p:nvSpPr>
        <p:spPr>
          <a:xfrm>
            <a:off x="19680174" y="22942295"/>
            <a:ext cx="2996946" cy="1143000"/>
          </a:xfrm>
          <a:prstGeom prst="roundRect">
            <a:avLst/>
          </a:prstGeom>
          <a:solidFill>
            <a:srgbClr val="EAF4F9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72B2"/>
                </a:solidFill>
                <a:latin typeface="Arial"/>
              </a:rPr>
              <a:t>DSMEM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72B2"/>
                </a:solidFill>
                <a:latin typeface="Arial"/>
              </a:rPr>
              <a:t>transport</a:t>
            </a:r>
          </a:p>
        </p:txBody>
      </p:sp>
      <p:sp>
        <p:nvSpPr>
          <p:cNvPr id="39012" name="Oval 39011"/>
          <p:cNvSpPr/>
          <p:nvPr/>
        </p:nvSpPr>
        <p:spPr>
          <a:xfrm>
            <a:off x="19433286" y="23326344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3373B"/>
                </a:solidFill>
                <a:latin typeface="Arial"/>
              </a:rPr>
              <a:t>-</a:t>
            </a:r>
          </a:p>
        </p:txBody>
      </p:sp>
      <p:sp>
        <p:nvSpPr>
          <p:cNvPr id="39013" name="Rounded Rectangle 39012"/>
          <p:cNvSpPr/>
          <p:nvPr/>
        </p:nvSpPr>
        <p:spPr>
          <a:xfrm>
            <a:off x="11320272" y="24359615"/>
            <a:ext cx="10259567" cy="1225296"/>
          </a:xfrm>
          <a:prstGeom prst="roundRect">
            <a:avLst/>
          </a:prstGeom>
          <a:solidFill>
            <a:srgbClr val="B7D52A"/>
          </a:solidFill>
          <a:ln w="2540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Arial"/>
              </a:rPr>
              <a:t>GENERATE DSMEM KERNEL  iff  ΔT &gt; 0</a:t>
            </a:r>
          </a:p>
        </p:txBody>
      </p:sp>
      <p:sp>
        <p:nvSpPr>
          <p:cNvPr id="39014" name="TextBox 39013"/>
          <p:cNvSpPr txBox="1"/>
          <p:nvPr/>
        </p:nvSpPr>
        <p:spPr>
          <a:xfrm>
            <a:off x="10222992" y="25795223"/>
            <a:ext cx="1245412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D75"/>
                </a:solidFill>
                <a:latin typeface="Arial"/>
              </a:rPr>
              <a:t>1 baseline timing + primitive profiles + static traffic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666D75"/>
                </a:solidFill>
                <a:latin typeface="Arial"/>
              </a:rPr>
              <a:t>No DSMEM candidate timing</a:t>
            </a:r>
          </a:p>
        </p:txBody>
      </p:sp>
      <p:sp>
        <p:nvSpPr>
          <p:cNvPr id="39015" name="Rounded Rectangle 39014"/>
          <p:cNvSpPr/>
          <p:nvPr/>
        </p:nvSpPr>
        <p:spPr>
          <a:xfrm>
            <a:off x="10634472" y="26846783"/>
            <a:ext cx="11631167" cy="1783080"/>
          </a:xfrm>
          <a:prstGeom prst="roundRect">
            <a:avLst/>
          </a:prstGeom>
          <a:solidFill>
            <a:srgbClr val="FFFFFF"/>
          </a:solidFill>
          <a:ln w="29209">
            <a:solidFill>
              <a:srgbClr val="B7D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 bIns="73152"/>
          <a:lstStyle/>
          <a:p>
            <a:pPr algn="ctr"/>
            <a:r>
              <a:rPr sz="2200" b="1">
                <a:solidFill>
                  <a:srgbClr val="33373B"/>
                </a:solidFill>
                <a:latin typeface="Arial"/>
              </a:rPr>
              <a:t>LayerNorm at N = 65,536</a:t>
            </a:r>
          </a:p>
          <a:p>
            <a:pPr algn="ctr">
              <a:spcBef>
                <a:spcPts val="400"/>
              </a:spcBef>
            </a:pPr>
            <a:r>
              <a:rPr sz="2300" b="1">
                <a:solidFill>
                  <a:srgbClr val="718C00"/>
                </a:solidFill>
                <a:latin typeface="Arial"/>
              </a:rPr>
              <a:t>≈768 KiB HBM avoided  vs.  896 B DSMEM exchanged</a:t>
            </a:r>
          </a:p>
        </p:txBody>
      </p:sp>
      <p:sp>
        <p:nvSpPr>
          <p:cNvPr id="39016" name="Oval 39015"/>
          <p:cNvSpPr/>
          <p:nvPr/>
        </p:nvSpPr>
        <p:spPr>
          <a:xfrm>
            <a:off x="23207472" y="8814816"/>
            <a:ext cx="658368" cy="658368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39017" name="TextBox 39016"/>
          <p:cNvSpPr txBox="1"/>
          <p:nvPr/>
        </p:nvSpPr>
        <p:spPr>
          <a:xfrm>
            <a:off x="24030431" y="8842248"/>
            <a:ext cx="791870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33373B"/>
                </a:solidFill>
                <a:latin typeface="Arial"/>
              </a:rPr>
              <a:t>CROSS-GPU EVIDENCE</a:t>
            </a:r>
          </a:p>
        </p:txBody>
      </p:sp>
      <p:sp>
        <p:nvSpPr>
          <p:cNvPr id="39018" name="Rectangle 39017"/>
          <p:cNvSpPr/>
          <p:nvPr/>
        </p:nvSpPr>
        <p:spPr>
          <a:xfrm>
            <a:off x="24030431" y="9436608"/>
            <a:ext cx="7918704" cy="64008"/>
          </a:xfrm>
          <a:prstGeom prst="rect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9" name="TextBox 39018"/>
          <p:cNvSpPr txBox="1"/>
          <p:nvPr/>
        </p:nvSpPr>
        <p:spPr>
          <a:xfrm>
            <a:off x="23207472" y="9747504"/>
            <a:ext cx="8741664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718C00"/>
                </a:solidFill>
                <a:latin typeface="Arial"/>
              </a:rPr>
              <a:t>ALL 6 WORKLOADS WIN AT 64K</a:t>
            </a:r>
          </a:p>
        </p:txBody>
      </p:sp>
      <p:sp>
        <p:nvSpPr>
          <p:cNvPr id="39020" name="TextBox 39019"/>
          <p:cNvSpPr txBox="1"/>
          <p:nvPr/>
        </p:nvSpPr>
        <p:spPr>
          <a:xfrm>
            <a:off x="23207472" y="10369296"/>
            <a:ext cx="87416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D75"/>
                </a:solidFill>
                <a:latin typeface="Arial"/>
              </a:rPr>
              <a:t>best of torch.compile, Triton, and CUDA</a:t>
            </a:r>
          </a:p>
        </p:txBody>
      </p:sp>
      <p:pic>
        <p:nvPicPr>
          <p:cNvPr id="39021" name="Picture 39020" descr="speedups_64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1752" y="10689336"/>
            <a:ext cx="8833104" cy="6896920"/>
          </a:xfrm>
          <a:prstGeom prst="rect">
            <a:avLst/>
          </a:prstGeom>
        </p:spPr>
      </p:pic>
      <p:sp>
        <p:nvSpPr>
          <p:cNvPr id="39022" name="Rounded Rectangle 39021"/>
          <p:cNvSpPr/>
          <p:nvPr/>
        </p:nvSpPr>
        <p:spPr>
          <a:xfrm>
            <a:off x="23207472" y="18745200"/>
            <a:ext cx="2706624" cy="1481328"/>
          </a:xfrm>
          <a:prstGeom prst="roundRect">
            <a:avLst/>
          </a:prstGeom>
          <a:solidFill>
            <a:srgbClr val="F5F6F7"/>
          </a:solidFill>
          <a:ln w="22860">
            <a:solidFill>
              <a:srgbClr val="33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 bIns="36576"/>
          <a:lstStyle/>
          <a:p>
            <a:pPr algn="ctr"/>
            <a:r>
              <a:rPr sz="3100" b="1">
                <a:solidFill>
                  <a:srgbClr val="33373B"/>
                </a:solidFill>
                <a:latin typeface="Arial"/>
              </a:rPr>
              <a:t>1.466×</a:t>
            </a:r>
          </a:p>
          <a:p>
            <a:pPr algn="ctr">
              <a:spcBef>
                <a:spcPts val="100"/>
              </a:spcBef>
            </a:pPr>
            <a:r>
              <a:rPr sz="1700">
                <a:solidFill>
                  <a:srgbClr val="33373B"/>
                </a:solidFill>
                <a:latin typeface="Arial"/>
              </a:rPr>
              <a:t>RTX 5090 geomean</a:t>
            </a:r>
          </a:p>
        </p:txBody>
      </p:sp>
      <p:sp>
        <p:nvSpPr>
          <p:cNvPr id="39023" name="Rounded Rectangle 39022"/>
          <p:cNvSpPr/>
          <p:nvPr/>
        </p:nvSpPr>
        <p:spPr>
          <a:xfrm>
            <a:off x="26115264" y="18745200"/>
            <a:ext cx="2706624" cy="1481328"/>
          </a:xfrm>
          <a:prstGeom prst="roundRect">
            <a:avLst/>
          </a:prstGeom>
          <a:solidFill>
            <a:srgbClr val="EAF4F9"/>
          </a:solidFill>
          <a:ln w="228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 bIns="36576"/>
          <a:lstStyle/>
          <a:p>
            <a:pPr algn="ctr"/>
            <a:r>
              <a:rPr sz="3100" b="1">
                <a:solidFill>
                  <a:srgbClr val="0072B2"/>
                </a:solidFill>
                <a:latin typeface="Arial"/>
              </a:rPr>
              <a:t>1.318×</a:t>
            </a:r>
          </a:p>
          <a:p>
            <a:pPr algn="ctr">
              <a:spcBef>
                <a:spcPts val="100"/>
              </a:spcBef>
            </a:pPr>
            <a:r>
              <a:rPr sz="1700">
                <a:solidFill>
                  <a:srgbClr val="33373B"/>
                </a:solidFill>
                <a:latin typeface="Arial"/>
              </a:rPr>
              <a:t>H100 geomean</a:t>
            </a:r>
          </a:p>
        </p:txBody>
      </p:sp>
      <p:sp>
        <p:nvSpPr>
          <p:cNvPr id="39024" name="Rounded Rectangle 39023"/>
          <p:cNvSpPr/>
          <p:nvPr/>
        </p:nvSpPr>
        <p:spPr>
          <a:xfrm>
            <a:off x="29023056" y="18745200"/>
            <a:ext cx="2706624" cy="1481328"/>
          </a:xfrm>
          <a:prstGeom prst="roundRect">
            <a:avLst/>
          </a:prstGeom>
          <a:solidFill>
            <a:srgbClr val="F4F8E7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73152" bIns="36576"/>
          <a:lstStyle/>
          <a:p>
            <a:pPr algn="ctr"/>
            <a:r>
              <a:rPr sz="3100" b="1">
                <a:solidFill>
                  <a:srgbClr val="718C00"/>
                </a:solidFill>
                <a:latin typeface="Arial"/>
              </a:rPr>
              <a:t>55 / 60</a:t>
            </a:r>
          </a:p>
          <a:p>
            <a:pPr algn="ctr">
              <a:spcBef>
                <a:spcPts val="100"/>
              </a:spcBef>
            </a:pPr>
            <a:r>
              <a:rPr sz="1700">
                <a:solidFill>
                  <a:srgbClr val="33373B"/>
                </a:solidFill>
                <a:latin typeface="Arial"/>
              </a:rPr>
              <a:t>CUDA profit signs</a:t>
            </a:r>
          </a:p>
        </p:txBody>
      </p:sp>
      <p:sp>
        <p:nvSpPr>
          <p:cNvPr id="39025" name="TextBox 39024"/>
          <p:cNvSpPr txBox="1"/>
          <p:nvPr/>
        </p:nvSpPr>
        <p:spPr>
          <a:xfrm>
            <a:off x="23207472" y="20692872"/>
            <a:ext cx="874166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3373B"/>
                </a:solidFill>
                <a:latin typeface="Arial"/>
              </a:rPr>
              <a:t>MEASURED DRAM TRAFFIC ELIMINATED</a:t>
            </a:r>
          </a:p>
        </p:txBody>
      </p:sp>
      <p:sp>
        <p:nvSpPr>
          <p:cNvPr id="39026" name="TextBox 39025"/>
          <p:cNvSpPr txBox="1"/>
          <p:nvPr/>
        </p:nvSpPr>
        <p:spPr>
          <a:xfrm>
            <a:off x="23207472" y="21195792"/>
            <a:ext cx="874166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66D75"/>
                </a:solidFill>
                <a:latin typeface="Arial"/>
              </a:rPr>
              <a:t>RTX 5090, N = 65,536</a:t>
            </a:r>
          </a:p>
        </p:txBody>
      </p:sp>
      <p:pic>
        <p:nvPicPr>
          <p:cNvPr id="39027" name="Picture 39026" descr="traffic_redu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7472" y="21634704"/>
            <a:ext cx="8741664" cy="4568072"/>
          </a:xfrm>
          <a:prstGeom prst="rect">
            <a:avLst/>
          </a:prstGeom>
        </p:spPr>
      </p:pic>
      <p:sp>
        <p:nvSpPr>
          <p:cNvPr id="39028" name="Rounded Rectangle 39027"/>
          <p:cNvSpPr/>
          <p:nvPr/>
        </p:nvSpPr>
        <p:spPr>
          <a:xfrm>
            <a:off x="23207472" y="27139392"/>
            <a:ext cx="8741664" cy="2057400"/>
          </a:xfrm>
          <a:prstGeom prst="roundRect">
            <a:avLst/>
          </a:prstGeom>
          <a:solidFill>
            <a:srgbClr val="EAF4F9"/>
          </a:solidFill>
          <a:ln w="254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73152"/>
          <a:lstStyle/>
          <a:p>
            <a:pPr algn="ctr"/>
            <a:r>
              <a:rPr sz="2300" b="1">
                <a:solidFill>
                  <a:srgbClr val="33373B"/>
                </a:solidFill>
                <a:latin typeface="Arial"/>
              </a:rPr>
              <a:t>MODEL VALIDATION</a:t>
            </a:r>
          </a:p>
          <a:p>
            <a:pPr algn="ctr">
              <a:spcBef>
                <a:spcPts val="400"/>
              </a:spcBef>
            </a:pPr>
            <a:r>
              <a:rPr sz="2700" b="1">
                <a:solidFill>
                  <a:srgbClr val="0072B2"/>
                </a:solidFill>
                <a:latin typeface="Arial"/>
              </a:rPr>
              <a:t>90.0% RTX 5090  |  93.3% H100</a:t>
            </a:r>
          </a:p>
          <a:p>
            <a:pPr algn="ctr">
              <a:spcBef>
                <a:spcPts val="300"/>
              </a:spcBef>
            </a:pPr>
            <a:r>
              <a:rPr sz="1800">
                <a:solidFill>
                  <a:srgbClr val="33373B"/>
                </a:solidFill>
                <a:latin typeface="Arial"/>
              </a:rPr>
              <a:t>Every crossover within one tested 2× width interval</a:t>
            </a:r>
          </a:p>
        </p:txBody>
      </p:sp>
      <p:sp>
        <p:nvSpPr>
          <p:cNvPr id="39029" name="Oval 39028"/>
          <p:cNvSpPr/>
          <p:nvPr/>
        </p:nvSpPr>
        <p:spPr>
          <a:xfrm>
            <a:off x="941832" y="29644848"/>
            <a:ext cx="658368" cy="658368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9030" name="TextBox 39029"/>
          <p:cNvSpPr txBox="1"/>
          <p:nvPr/>
        </p:nvSpPr>
        <p:spPr>
          <a:xfrm>
            <a:off x="1764792" y="29672280"/>
            <a:ext cx="30184344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33373B"/>
                </a:solidFill>
                <a:latin typeface="Arial"/>
              </a:rPr>
              <a:t>DEPLOYMENT RULE</a:t>
            </a:r>
          </a:p>
        </p:txBody>
      </p:sp>
      <p:sp>
        <p:nvSpPr>
          <p:cNvPr id="39031" name="Rectangle 39030"/>
          <p:cNvSpPr/>
          <p:nvPr/>
        </p:nvSpPr>
        <p:spPr>
          <a:xfrm>
            <a:off x="1764792" y="30266640"/>
            <a:ext cx="30184344" cy="64008"/>
          </a:xfrm>
          <a:prstGeom prst="rect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2" name="Rounded Rectangle 39031"/>
          <p:cNvSpPr/>
          <p:nvPr/>
        </p:nvSpPr>
        <p:spPr>
          <a:xfrm>
            <a:off x="941832" y="30668976"/>
            <a:ext cx="7244333" cy="1298448"/>
          </a:xfrm>
          <a:prstGeom prst="roundRect">
            <a:avLst/>
          </a:prstGeom>
          <a:solidFill>
            <a:srgbClr val="F5F6F7"/>
          </a:solidFill>
          <a:ln w="22860">
            <a:solidFill>
              <a:srgbClr val="33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3373B"/>
                </a:solidFill>
                <a:latin typeface="Arial"/>
              </a:rPr>
              <a:t>REREADS 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3373B"/>
                </a:solidFill>
                <a:latin typeface="Arial"/>
              </a:rPr>
              <a:t>after reduction?</a:t>
            </a:r>
          </a:p>
        </p:txBody>
      </p:sp>
      <p:sp>
        <p:nvSpPr>
          <p:cNvPr id="39033" name="Right Arrow 39032"/>
          <p:cNvSpPr/>
          <p:nvPr/>
        </p:nvSpPr>
        <p:spPr>
          <a:xfrm>
            <a:off x="8277605" y="31117032"/>
            <a:ext cx="475488" cy="402336"/>
          </a:xfrm>
          <a:prstGeom prst="rightArrow">
            <a:avLst/>
          </a:prstGeom>
          <a:solidFill>
            <a:srgbClr val="666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4" name="Rounded Rectangle 39033"/>
          <p:cNvSpPr/>
          <p:nvPr/>
        </p:nvSpPr>
        <p:spPr>
          <a:xfrm>
            <a:off x="8862822" y="30668976"/>
            <a:ext cx="7244333" cy="1298448"/>
          </a:xfrm>
          <a:prstGeom prst="roundRect">
            <a:avLst/>
          </a:prstGeom>
          <a:solidFill>
            <a:srgbClr val="F4F8E7"/>
          </a:solidFill>
          <a:ln w="22860">
            <a:solidFill>
              <a:srgbClr val="71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18C00"/>
                </a:solidFill>
                <a:latin typeface="Arial"/>
              </a:rPr>
              <a:t>BULK STAYS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18C00"/>
                </a:solidFill>
                <a:latin typeface="Arial"/>
              </a:rPr>
              <a:t>owner-local?</a:t>
            </a:r>
          </a:p>
        </p:txBody>
      </p:sp>
      <p:sp>
        <p:nvSpPr>
          <p:cNvPr id="39035" name="Right Arrow 39034"/>
          <p:cNvSpPr/>
          <p:nvPr/>
        </p:nvSpPr>
        <p:spPr>
          <a:xfrm>
            <a:off x="16198596" y="31117032"/>
            <a:ext cx="475488" cy="402336"/>
          </a:xfrm>
          <a:prstGeom prst="rightArrow">
            <a:avLst/>
          </a:prstGeom>
          <a:solidFill>
            <a:srgbClr val="666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6" name="Rounded Rectangle 39035"/>
          <p:cNvSpPr/>
          <p:nvPr/>
        </p:nvSpPr>
        <p:spPr>
          <a:xfrm>
            <a:off x="16783812" y="30668976"/>
            <a:ext cx="7244333" cy="1298448"/>
          </a:xfrm>
          <a:prstGeom prst="roundRect">
            <a:avLst/>
          </a:prstGeom>
          <a:solidFill>
            <a:srgbClr val="EAF4F9"/>
          </a:solidFill>
          <a:ln w="228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2B2"/>
                </a:solidFill>
                <a:latin typeface="Arial"/>
              </a:rPr>
              <a:t>REMOTE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2B2"/>
                </a:solidFill>
                <a:latin typeface="Arial"/>
              </a:rPr>
              <a:t>stays compact?</a:t>
            </a:r>
          </a:p>
        </p:txBody>
      </p:sp>
      <p:sp>
        <p:nvSpPr>
          <p:cNvPr id="39037" name="Right Arrow 39036"/>
          <p:cNvSpPr/>
          <p:nvPr/>
        </p:nvSpPr>
        <p:spPr>
          <a:xfrm>
            <a:off x="24119586" y="31117032"/>
            <a:ext cx="475488" cy="402336"/>
          </a:xfrm>
          <a:prstGeom prst="rightArrow">
            <a:avLst/>
          </a:prstGeom>
          <a:solidFill>
            <a:srgbClr val="666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8" name="Rounded Rectangle 39037"/>
          <p:cNvSpPr/>
          <p:nvPr/>
        </p:nvSpPr>
        <p:spPr>
          <a:xfrm>
            <a:off x="24704802" y="30668976"/>
            <a:ext cx="7244333" cy="1298448"/>
          </a:xfrm>
          <a:prstGeom prst="roundRect">
            <a:avLst/>
          </a:prstGeom>
          <a:solidFill>
            <a:srgbClr val="B7D52A"/>
          </a:solidFill>
          <a:ln w="228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ΔT &gt; 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USE DSMEM</a:t>
            </a:r>
          </a:p>
        </p:txBody>
      </p:sp>
      <p:sp>
        <p:nvSpPr>
          <p:cNvPr id="39039" name="TextBox 39038"/>
          <p:cNvSpPr txBox="1"/>
          <p:nvPr/>
        </p:nvSpPr>
        <p:spPr>
          <a:xfrm>
            <a:off x="941832" y="32058864"/>
            <a:ext cx="31007303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7A38"/>
                </a:solidFill>
                <a:latin typeface="Arial"/>
              </a:rPr>
              <a:t>Any NO → keep the non-DSMEM baseline</a:t>
            </a:r>
          </a:p>
        </p:txBody>
      </p:sp>
      <p:cxnSp>
        <p:nvCxnSpPr>
          <p:cNvPr id="39040" name="Connector 39039"/>
          <p:cNvCxnSpPr/>
          <p:nvPr/>
        </p:nvCxnSpPr>
        <p:spPr>
          <a:xfrm>
            <a:off x="16445484" y="32644080"/>
            <a:ext cx="0" cy="3675888"/>
          </a:xfrm>
          <a:prstGeom prst="line">
            <a:avLst/>
          </a:prstGeom>
          <a:ln w="25400">
            <a:solidFill>
              <a:srgbClr val="E4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41" name="TextBox 39040"/>
          <p:cNvSpPr txBox="1"/>
          <p:nvPr/>
        </p:nvSpPr>
        <p:spPr>
          <a:xfrm>
            <a:off x="941832" y="32570928"/>
            <a:ext cx="15000731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18C00"/>
                </a:solidFill>
                <a:latin typeface="Arial"/>
              </a:rPr>
              <a:t>USE DSMEM</a:t>
            </a:r>
          </a:p>
        </p:txBody>
      </p:sp>
      <p:sp>
        <p:nvSpPr>
          <p:cNvPr id="39042" name="TextBox 39041"/>
          <p:cNvSpPr txBox="1"/>
          <p:nvPr/>
        </p:nvSpPr>
        <p:spPr>
          <a:xfrm>
            <a:off x="16948404" y="32570928"/>
            <a:ext cx="15000731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7A38"/>
                </a:solidFill>
                <a:latin typeface="Arial"/>
              </a:rPr>
              <a:t>AVOID DSMEM</a:t>
            </a:r>
          </a:p>
        </p:txBody>
      </p:sp>
      <p:sp>
        <p:nvSpPr>
          <p:cNvPr id="39043" name="Oval 39042"/>
          <p:cNvSpPr/>
          <p:nvPr/>
        </p:nvSpPr>
        <p:spPr>
          <a:xfrm>
            <a:off x="941832" y="33412176"/>
            <a:ext cx="219456" cy="219456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4" name="TextBox 39043"/>
          <p:cNvSpPr txBox="1"/>
          <p:nvPr/>
        </p:nvSpPr>
        <p:spPr>
          <a:xfrm>
            <a:off x="1325880" y="3326587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Wide row + reduction + reuse</a:t>
            </a:r>
          </a:p>
        </p:txBody>
      </p:sp>
      <p:sp>
        <p:nvSpPr>
          <p:cNvPr id="39045" name="Oval 39044"/>
          <p:cNvSpPr/>
          <p:nvPr/>
        </p:nvSpPr>
        <p:spPr>
          <a:xfrm>
            <a:off x="941832" y="34052256"/>
            <a:ext cx="219456" cy="219456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6" name="TextBox 39045"/>
          <p:cNvSpPr txBox="1"/>
          <p:nvPr/>
        </p:nvSpPr>
        <p:spPr>
          <a:xfrm>
            <a:off x="1325880" y="3390595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Bulk slice stays owner-local</a:t>
            </a:r>
          </a:p>
        </p:txBody>
      </p:sp>
      <p:sp>
        <p:nvSpPr>
          <p:cNvPr id="39047" name="Oval 39046"/>
          <p:cNvSpPr/>
          <p:nvPr/>
        </p:nvSpPr>
        <p:spPr>
          <a:xfrm>
            <a:off x="941832" y="34692336"/>
            <a:ext cx="219456" cy="219456"/>
          </a:xfrm>
          <a:prstGeom prst="ellipse">
            <a:avLst/>
          </a:prstGeom>
          <a:solidFill>
            <a:srgbClr val="B7D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8" name="TextBox 39047"/>
          <p:cNvSpPr txBox="1"/>
          <p:nvPr/>
        </p:nvSpPr>
        <p:spPr>
          <a:xfrm>
            <a:off x="1325880" y="3454603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Remote state stays compact</a:t>
            </a:r>
          </a:p>
        </p:txBody>
      </p:sp>
      <p:sp>
        <p:nvSpPr>
          <p:cNvPr id="39049" name="Oval 39048"/>
          <p:cNvSpPr/>
          <p:nvPr/>
        </p:nvSpPr>
        <p:spPr>
          <a:xfrm>
            <a:off x="16948404" y="33412176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0" name="TextBox 39049"/>
          <p:cNvSpPr txBox="1"/>
          <p:nvPr/>
        </p:nvSpPr>
        <p:spPr>
          <a:xfrm>
            <a:off x="17332452" y="3326587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One-pass reduction</a:t>
            </a:r>
          </a:p>
        </p:txBody>
      </p:sp>
      <p:sp>
        <p:nvSpPr>
          <p:cNvPr id="39051" name="Oval 39050"/>
          <p:cNvSpPr/>
          <p:nvPr/>
        </p:nvSpPr>
        <p:spPr>
          <a:xfrm>
            <a:off x="16948404" y="34052256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2" name="TextBox 39051"/>
          <p:cNvSpPr txBox="1"/>
          <p:nvPr/>
        </p:nvSpPr>
        <p:spPr>
          <a:xfrm>
            <a:off x="17332452" y="3390595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Scan / selection</a:t>
            </a:r>
          </a:p>
        </p:txBody>
      </p:sp>
      <p:sp>
        <p:nvSpPr>
          <p:cNvPr id="39053" name="Oval 39052"/>
          <p:cNvSpPr/>
          <p:nvPr/>
        </p:nvSpPr>
        <p:spPr>
          <a:xfrm>
            <a:off x="16948404" y="34692336"/>
            <a:ext cx="219456" cy="219456"/>
          </a:xfrm>
          <a:prstGeom prst="ellipse">
            <a:avLst/>
          </a:prstGeom>
          <a:solidFill>
            <a:srgbClr val="F4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4" name="TextBox 39053"/>
          <p:cNvSpPr txBox="1"/>
          <p:nvPr/>
        </p:nvSpPr>
        <p:spPr>
          <a:xfrm>
            <a:off x="17332452" y="34546032"/>
            <a:ext cx="14616683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33373B"/>
                </a:solidFill>
                <a:latin typeface="Arial"/>
              </a:rPr>
              <a:t>Bulk halo exchange</a:t>
            </a:r>
          </a:p>
        </p:txBody>
      </p:sp>
      <p:sp>
        <p:nvSpPr>
          <p:cNvPr id="39055" name="TextBox 39054"/>
          <p:cNvSpPr txBox="1"/>
          <p:nvPr/>
        </p:nvSpPr>
        <p:spPr>
          <a:xfrm>
            <a:off x="941832" y="35359848"/>
            <a:ext cx="150007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66D75"/>
                </a:solidFill>
                <a:latin typeface="Arial"/>
              </a:rPr>
              <a:t>LayerNorm  |  softmax backward  |  pairwise statistics  |  quantization</a:t>
            </a:r>
          </a:p>
        </p:txBody>
      </p:sp>
      <p:sp>
        <p:nvSpPr>
          <p:cNvPr id="39056" name="TextBox 39055"/>
          <p:cNvSpPr txBox="1"/>
          <p:nvPr/>
        </p:nvSpPr>
        <p:spPr>
          <a:xfrm>
            <a:off x="16948404" y="35359848"/>
            <a:ext cx="150007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66D75"/>
                </a:solidFill>
                <a:latin typeface="Arial"/>
              </a:rPr>
              <a:t>Width amortizes overhead; width alone is not predictive.</a:t>
            </a:r>
          </a:p>
        </p:txBody>
      </p:sp>
      <p:sp>
        <p:nvSpPr>
          <p:cNvPr id="39057" name="TextBox 39056"/>
          <p:cNvSpPr txBox="1"/>
          <p:nvPr/>
        </p:nvSpPr>
        <p:spPr>
          <a:xfrm>
            <a:off x="941832" y="36576000"/>
            <a:ext cx="31007303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66D75"/>
                </a:solidFill>
                <a:latin typeface="Arial"/>
              </a:rPr>
              <a:t>Wide rows amortize overhead; width alone is not a selection rule.</a:t>
            </a:r>
          </a:p>
        </p:txBody>
      </p:sp>
      <p:sp>
        <p:nvSpPr>
          <p:cNvPr id="39058" name="Rectangle 39057"/>
          <p:cNvSpPr/>
          <p:nvPr/>
        </p:nvSpPr>
        <p:spPr>
          <a:xfrm>
            <a:off x="941832" y="38039040"/>
            <a:ext cx="31007303" cy="1243584"/>
          </a:xfrm>
          <a:prstGeom prst="rect">
            <a:avLst/>
          </a:prstGeom>
          <a:solidFill>
            <a:srgbClr val="3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DSMEM is a selective reduction-reuse mechanism, not a general fusion fabric.</a:t>
            </a:r>
          </a:p>
        </p:txBody>
      </p:sp>
      <p:sp>
        <p:nvSpPr>
          <p:cNvPr id="39059" name="TextBox 39058"/>
          <p:cNvSpPr txBox="1"/>
          <p:nvPr/>
        </p:nvSpPr>
        <p:spPr>
          <a:xfrm>
            <a:off x="987552" y="41861232"/>
            <a:ext cx="10789920" cy="11155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5050C"/>
                </a:solidFill>
                <a:latin typeface="Arial"/>
              </a:rPr>
              <a:t>UNIVERSITY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5050C"/>
                </a:solidFill>
                <a:latin typeface="Arial"/>
              </a:rPr>
              <a:t>WISCONSIN-MADISON</a:t>
            </a:r>
          </a:p>
        </p:txBody>
      </p:sp>
      <p:sp>
        <p:nvSpPr>
          <p:cNvPr id="39060" name="TextBox 39059"/>
          <p:cNvSpPr txBox="1"/>
          <p:nvPr/>
        </p:nvSpPr>
        <p:spPr>
          <a:xfrm>
            <a:off x="10972800" y="4201668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33373B"/>
                </a:solidFill>
                <a:latin typeface="Arial"/>
              </a:rPr>
              <a:t>zhengxiong.li@wisc.edu</a:t>
            </a:r>
          </a:p>
        </p:txBody>
      </p:sp>
      <p:sp>
        <p:nvSpPr>
          <p:cNvPr id="39061" name="TextBox 39060"/>
          <p:cNvSpPr txBox="1"/>
          <p:nvPr/>
        </p:nvSpPr>
        <p:spPr>
          <a:xfrm>
            <a:off x="22219920" y="41897808"/>
            <a:ext cx="9692640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D75"/>
                </a:solidFill>
                <a:latin typeface="Arial"/>
              </a:rPr>
              <a:t>RTX 5090 + NVIDIA H100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6D75"/>
                </a:solidFill>
                <a:latin typeface="Arial"/>
              </a:rPr>
              <a:t>CUDA 13  |  FP32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12078</TotalTime>
  <Words>37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Arial</vt:lpstr>
      <vt:lpstr>Arial Black</vt:lpstr>
      <vt:lpstr>Arial Narrow</vt:lpstr>
      <vt:lpstr>Calibri</vt:lpstr>
      <vt:lpstr>Eras Bold ITC</vt:lpstr>
      <vt:lpstr>Helvetica</vt:lpstr>
      <vt:lpstr>1_Custom Design</vt:lpstr>
      <vt:lpstr>2_Custom Design</vt:lpstr>
      <vt:lpstr>Office Theme</vt:lpstr>
      <vt:lpstr>PowerPoint Presentation</vt:lpstr>
    </vt:vector>
  </TitlesOfParts>
  <Manager/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100cm by 100cm Poster Template</dc:title>
  <dc:subject>Free PowerPoint poster templates</dc:subject>
  <dc:creator>A. Kotoulas</dc:creator>
  <cp:keywords>poster presentation, poster design, poster template</cp:keywords>
  <dc:description>Non-authorized printing of this poster template by any commercial printing service other than PosterPresentations.com is strictly prohibited._x000d_
Non-profit educational printing centers are exempt._x000d_
To obtain printing authorization call:_x000d_
1.866.649.3004_x000d_
_x000d_
©</dc:description>
  <cp:lastModifiedBy>Patrick Groeneveld</cp:lastModifiedBy>
  <cp:revision>474</cp:revision>
  <cp:lastPrinted>2013-05-30T15:51:06Z</cp:lastPrinted>
  <dcterms:created xsi:type="dcterms:W3CDTF">2014-05-08T18:29:13Z</dcterms:created>
  <dcterms:modified xsi:type="dcterms:W3CDTF">2026-06-27T16:46:20Z</dcterms:modified>
  <cp:category>Powerpoint poster templates</cp:category>
</cp:coreProperties>
</file>